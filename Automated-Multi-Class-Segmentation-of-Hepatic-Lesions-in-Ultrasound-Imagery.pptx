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Raleway"/>
      <p:regular r:id="rId17"/>
    </p:embeddedFont>
    <p:embeddedFont>
      <p:font typeface="Raleway"/>
      <p:regular r:id="rId18"/>
    </p:embeddedFont>
    <p:embeddedFont>
      <p:font typeface="Raleway"/>
      <p:regular r:id="rId19"/>
    </p:embeddedFont>
    <p:embeddedFont>
      <p:font typeface="Raleway"/>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46946" y="1061442"/>
            <a:ext cx="8022908" cy="4004310"/>
          </a:xfrm>
          <a:prstGeom prst="rect">
            <a:avLst/>
          </a:prstGeom>
          <a:noFill/>
          <a:ln/>
        </p:spPr>
        <p:txBody>
          <a:bodyPr wrap="square" lIns="0" tIns="0" rIns="0" bIns="0" rtlCol="0" anchor="t"/>
          <a:lstStyle/>
          <a:p>
            <a:pPr algn="l" indent="0" marL="0">
              <a:lnSpc>
                <a:spcPts val="7850"/>
              </a:lnSpc>
              <a:buNone/>
            </a:pPr>
            <a:r>
              <a:rPr lang="en-US" sz="6300" dirty="0">
                <a:solidFill>
                  <a:srgbClr val="1B1B27"/>
                </a:solidFill>
                <a:latin typeface="Raleway" pitchFamily="34" charset="0"/>
                <a:ea typeface="Raleway" pitchFamily="34" charset="-122"/>
                <a:cs typeface="Raleway" pitchFamily="34" charset="-120"/>
              </a:rPr>
              <a:t>Automated Multi-Class Segmentation of Hepatic Lesions in Ultrasound Imagery</a:t>
            </a:r>
            <a:endParaRPr lang="en-US" sz="6300" dirty="0"/>
          </a:p>
        </p:txBody>
      </p:sp>
      <p:sp>
        <p:nvSpPr>
          <p:cNvPr id="4" name="Text 1"/>
          <p:cNvSpPr/>
          <p:nvPr/>
        </p:nvSpPr>
        <p:spPr>
          <a:xfrm>
            <a:off x="6046946" y="5306020"/>
            <a:ext cx="8022908" cy="800814"/>
          </a:xfrm>
          <a:prstGeom prst="rect">
            <a:avLst/>
          </a:prstGeom>
          <a:noFill/>
          <a:ln/>
        </p:spPr>
        <p:txBody>
          <a:bodyPr wrap="squar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A Deep Learning Approach using Attention U-Net and Compound Loss Strategies</a:t>
            </a:r>
            <a:endParaRPr lang="en-US" sz="2500" dirty="0"/>
          </a:p>
        </p:txBody>
      </p:sp>
      <p:sp>
        <p:nvSpPr>
          <p:cNvPr id="5" name="Text 2"/>
          <p:cNvSpPr/>
          <p:nvPr/>
        </p:nvSpPr>
        <p:spPr>
          <a:xfrm>
            <a:off x="6046946" y="6347103"/>
            <a:ext cx="8022908" cy="320397"/>
          </a:xfrm>
          <a:prstGeom prst="rect">
            <a:avLst/>
          </a:prstGeom>
          <a:noFill/>
          <a:ln/>
        </p:spPr>
        <p:txBody>
          <a:bodyPr wrap="none" lIns="0" tIns="0" rIns="0" bIns="0" rtlCol="0" anchor="t"/>
          <a:lstStyle/>
          <a:p>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Presented by:</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[Your Name]</a:t>
            </a:r>
            <a:endParaRPr lang="en-US" sz="1550" dirty="0"/>
          </a:p>
        </p:txBody>
      </p:sp>
      <p:sp>
        <p:nvSpPr>
          <p:cNvPr id="6" name="Text 3"/>
          <p:cNvSpPr/>
          <p:nvPr/>
        </p:nvSpPr>
        <p:spPr>
          <a:xfrm>
            <a:off x="6046946" y="6847642"/>
            <a:ext cx="8022908" cy="320397"/>
          </a:xfrm>
          <a:prstGeom prst="rect">
            <a:avLst/>
          </a:prstGeom>
          <a:noFill/>
          <a:ln/>
        </p:spPr>
        <p:txBody>
          <a:bodyPr wrap="none" lIns="0" tIns="0" rIns="0" bIns="0" rtlCol="0" anchor="t"/>
          <a:lstStyle/>
          <a:p>
            <a:pPr algn="l" indent="0" marL="0">
              <a:lnSpc>
                <a:spcPts val="2500"/>
              </a:lnSpc>
              <a:buNone/>
            </a:pPr>
            <a:r>
              <a:rPr lang="en-US" sz="1550" b="1" dirty="0">
                <a:solidFill>
                  <a:srgbClr val="3C3939"/>
                </a:solidFill>
                <a:latin typeface="Roboto" pitchFamily="34" charset="0"/>
                <a:ea typeface="Roboto" pitchFamily="34" charset="-122"/>
                <a:cs typeface="Roboto" pitchFamily="34" charset="-120"/>
              </a:rPr>
              <a:t>Department/Affiliation:</a:t>
            </a:r>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 [Your University/Dept]</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4138" y="739616"/>
            <a:ext cx="7437001" cy="646509"/>
          </a:xfrm>
          <a:prstGeom prst="rect">
            <a:avLst/>
          </a:prstGeom>
          <a:noFill/>
          <a:ln/>
        </p:spPr>
        <p:txBody>
          <a:bodyPr wrap="none" lIns="0" tIns="0" rIns="0" bIns="0" rtlCol="0" anchor="t"/>
          <a:lstStyle/>
          <a:p>
            <a:pPr algn="l" indent="0" marL="0">
              <a:lnSpc>
                <a:spcPts val="5050"/>
              </a:lnSpc>
              <a:buNone/>
            </a:pPr>
            <a:r>
              <a:rPr lang="en-US" sz="4050" dirty="0">
                <a:solidFill>
                  <a:srgbClr val="1B1B27"/>
                </a:solidFill>
                <a:latin typeface="Raleway" pitchFamily="34" charset="0"/>
                <a:ea typeface="Raleway" pitchFamily="34" charset="-122"/>
                <a:cs typeface="Raleway" pitchFamily="34" charset="-120"/>
              </a:rPr>
              <a:t>The Problem: Why Ultrasound?</a:t>
            </a:r>
            <a:endParaRPr lang="en-US" sz="4050" dirty="0"/>
          </a:p>
        </p:txBody>
      </p:sp>
      <p:sp>
        <p:nvSpPr>
          <p:cNvPr id="3" name="Text 1"/>
          <p:cNvSpPr/>
          <p:nvPr/>
        </p:nvSpPr>
        <p:spPr>
          <a:xfrm>
            <a:off x="724138" y="1799868"/>
            <a:ext cx="13182124" cy="330994"/>
          </a:xfrm>
          <a:prstGeom prst="rect">
            <a:avLst/>
          </a:prstGeom>
          <a:noFill/>
          <a:ln/>
        </p:spPr>
        <p:txBody>
          <a:bodyPr wrap="none" lIns="0" tIns="0" rIns="0" bIns="0" rtlCol="0" anchor="t"/>
          <a:lstStyle/>
          <a:p>
            <a:pPr algn="l" indent="0" marL="0">
              <a:lnSpc>
                <a:spcPts val="2600"/>
              </a:lnSpc>
              <a:buNone/>
            </a:pPr>
            <a:r>
              <a:rPr lang="en-US" sz="1600" b="1" dirty="0">
                <a:solidFill>
                  <a:srgbClr val="3C3939"/>
                </a:solidFill>
                <a:latin typeface="Roboto" pitchFamily="34" charset="0"/>
                <a:ea typeface="Roboto" pitchFamily="34" charset="-122"/>
                <a:cs typeface="Roboto" pitchFamily="34" charset="-120"/>
              </a:rPr>
              <a:t>Context:</a:t>
            </a:r>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 Ultrasound is the primary screening tool for liver disease (accessible, radiation-free).</a:t>
            </a:r>
            <a:endParaRPr lang="en-US" sz="1600" dirty="0"/>
          </a:p>
        </p:txBody>
      </p:sp>
      <p:sp>
        <p:nvSpPr>
          <p:cNvPr id="4" name="Text 2"/>
          <p:cNvSpPr/>
          <p:nvPr/>
        </p:nvSpPr>
        <p:spPr>
          <a:xfrm>
            <a:off x="724138" y="2441138"/>
            <a:ext cx="3103483" cy="387906"/>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The Challenge:</a:t>
            </a:r>
            <a:endParaRPr lang="en-US" sz="2400" dirty="0"/>
          </a:p>
        </p:txBody>
      </p:sp>
      <p:sp>
        <p:nvSpPr>
          <p:cNvPr id="5" name="Shape 3"/>
          <p:cNvSpPr/>
          <p:nvPr/>
        </p:nvSpPr>
        <p:spPr>
          <a:xfrm>
            <a:off x="724138" y="3139321"/>
            <a:ext cx="4256127" cy="1568648"/>
          </a:xfrm>
          <a:prstGeom prst="roundRect">
            <a:avLst>
              <a:gd name="adj" fmla="val 5540"/>
            </a:avLst>
          </a:prstGeom>
          <a:solidFill>
            <a:srgbClr val="FFFFFF">
              <a:alpha val="95000"/>
            </a:srgbClr>
          </a:solidFill>
          <a:ln w="22860">
            <a:solidFill>
              <a:srgbClr val="C7C7D0"/>
            </a:solidFill>
            <a:prstDash val="solid"/>
          </a:ln>
        </p:spPr>
      </p:sp>
      <p:sp>
        <p:nvSpPr>
          <p:cNvPr id="6" name="Text 4"/>
          <p:cNvSpPr/>
          <p:nvPr/>
        </p:nvSpPr>
        <p:spPr>
          <a:xfrm>
            <a:off x="953810" y="3368993"/>
            <a:ext cx="2586276" cy="323255"/>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Speckle Noise</a:t>
            </a:r>
            <a:endParaRPr lang="en-US" sz="2000" dirty="0"/>
          </a:p>
        </p:txBody>
      </p:sp>
      <p:sp>
        <p:nvSpPr>
          <p:cNvPr id="7" name="Text 5"/>
          <p:cNvSpPr/>
          <p:nvPr/>
        </p:nvSpPr>
        <p:spPr>
          <a:xfrm>
            <a:off x="953810" y="3816310"/>
            <a:ext cx="3796784" cy="661988"/>
          </a:xfrm>
          <a:prstGeom prst="rect">
            <a:avLst/>
          </a:prstGeom>
          <a:noFill/>
          <a:ln/>
        </p:spPr>
        <p:txBody>
          <a:bodyPr wrap="square" lIns="0" tIns="0" rIns="0" bIns="0" rtlCol="0" anchor="t"/>
          <a:lstStyle/>
          <a:p>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Grainy interference patterns that make boundaries fuzzy.</a:t>
            </a:r>
            <a:endParaRPr lang="en-US" sz="1600" dirty="0"/>
          </a:p>
        </p:txBody>
      </p:sp>
      <p:sp>
        <p:nvSpPr>
          <p:cNvPr id="8" name="Shape 6"/>
          <p:cNvSpPr/>
          <p:nvPr/>
        </p:nvSpPr>
        <p:spPr>
          <a:xfrm>
            <a:off x="5187077" y="3139321"/>
            <a:ext cx="4256127" cy="1568648"/>
          </a:xfrm>
          <a:prstGeom prst="roundRect">
            <a:avLst>
              <a:gd name="adj" fmla="val 5540"/>
            </a:avLst>
          </a:prstGeom>
          <a:solidFill>
            <a:srgbClr val="FFFFFF">
              <a:alpha val="95000"/>
            </a:srgbClr>
          </a:solidFill>
          <a:ln w="22860">
            <a:solidFill>
              <a:srgbClr val="C7C7D0"/>
            </a:solidFill>
            <a:prstDash val="solid"/>
          </a:ln>
        </p:spPr>
      </p:sp>
      <p:sp>
        <p:nvSpPr>
          <p:cNvPr id="9" name="Text 7"/>
          <p:cNvSpPr/>
          <p:nvPr/>
        </p:nvSpPr>
        <p:spPr>
          <a:xfrm>
            <a:off x="5416748" y="3368993"/>
            <a:ext cx="2586276" cy="323255"/>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Low Contrast</a:t>
            </a:r>
            <a:endParaRPr lang="en-US" sz="2000" dirty="0"/>
          </a:p>
        </p:txBody>
      </p:sp>
      <p:sp>
        <p:nvSpPr>
          <p:cNvPr id="10" name="Text 8"/>
          <p:cNvSpPr/>
          <p:nvPr/>
        </p:nvSpPr>
        <p:spPr>
          <a:xfrm>
            <a:off x="5416748" y="3816310"/>
            <a:ext cx="3796784" cy="661988"/>
          </a:xfrm>
          <a:prstGeom prst="rect">
            <a:avLst/>
          </a:prstGeom>
          <a:noFill/>
          <a:ln/>
        </p:spPr>
        <p:txBody>
          <a:bodyPr wrap="square" lIns="0" tIns="0" rIns="0" bIns="0" rtlCol="0" anchor="t"/>
          <a:lstStyle/>
          <a:p>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The liver tissue and lesions often have very similar intensity values.</a:t>
            </a:r>
            <a:endParaRPr lang="en-US" sz="1600" dirty="0"/>
          </a:p>
        </p:txBody>
      </p:sp>
      <p:sp>
        <p:nvSpPr>
          <p:cNvPr id="11" name="Shape 9"/>
          <p:cNvSpPr/>
          <p:nvPr/>
        </p:nvSpPr>
        <p:spPr>
          <a:xfrm>
            <a:off x="9650016" y="3139321"/>
            <a:ext cx="4256127" cy="1568648"/>
          </a:xfrm>
          <a:prstGeom prst="roundRect">
            <a:avLst>
              <a:gd name="adj" fmla="val 5540"/>
            </a:avLst>
          </a:prstGeom>
          <a:solidFill>
            <a:srgbClr val="FFFFFF">
              <a:alpha val="95000"/>
            </a:srgbClr>
          </a:solidFill>
          <a:ln w="22860">
            <a:solidFill>
              <a:srgbClr val="C7C7D0"/>
            </a:solidFill>
            <a:prstDash val="solid"/>
          </a:ln>
        </p:spPr>
      </p:sp>
      <p:sp>
        <p:nvSpPr>
          <p:cNvPr id="12" name="Text 10"/>
          <p:cNvSpPr/>
          <p:nvPr/>
        </p:nvSpPr>
        <p:spPr>
          <a:xfrm>
            <a:off x="9879687" y="3368993"/>
            <a:ext cx="2678430" cy="323255"/>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Operator Dependence</a:t>
            </a:r>
            <a:endParaRPr lang="en-US" sz="2000" dirty="0"/>
          </a:p>
        </p:txBody>
      </p:sp>
      <p:sp>
        <p:nvSpPr>
          <p:cNvPr id="13" name="Text 11"/>
          <p:cNvSpPr/>
          <p:nvPr/>
        </p:nvSpPr>
        <p:spPr>
          <a:xfrm>
            <a:off x="9879687" y="3816310"/>
            <a:ext cx="3796784" cy="661988"/>
          </a:xfrm>
          <a:prstGeom prst="rect">
            <a:avLst/>
          </a:prstGeom>
          <a:noFill/>
          <a:ln/>
        </p:spPr>
        <p:txBody>
          <a:bodyPr wrap="square" lIns="0" tIns="0" rIns="0" bIns="0" rtlCol="0" anchor="t"/>
          <a:lstStyle/>
          <a:p>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Diagnosis relies heavily on the radiologist's subjective experience.</a:t>
            </a:r>
            <a:endParaRPr lang="en-US" sz="1600" dirty="0"/>
          </a:p>
        </p:txBody>
      </p:sp>
      <p:sp>
        <p:nvSpPr>
          <p:cNvPr id="14" name="Text 12"/>
          <p:cNvSpPr/>
          <p:nvPr/>
        </p:nvSpPr>
        <p:spPr>
          <a:xfrm>
            <a:off x="724138" y="5018246"/>
            <a:ext cx="3103483" cy="387906"/>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Objective:</a:t>
            </a:r>
            <a:endParaRPr lang="en-US" sz="2400" dirty="0"/>
          </a:p>
        </p:txBody>
      </p:sp>
      <p:sp>
        <p:nvSpPr>
          <p:cNvPr id="15" name="Text 13"/>
          <p:cNvSpPr/>
          <p:nvPr/>
        </p:nvSpPr>
        <p:spPr>
          <a:xfrm>
            <a:off x="724138" y="5716429"/>
            <a:ext cx="13182124" cy="330994"/>
          </a:xfrm>
          <a:prstGeom prst="rect">
            <a:avLst/>
          </a:prstGeom>
          <a:noFill/>
          <a:ln/>
        </p:spPr>
        <p:txBody>
          <a:bodyPr wrap="none" lIns="0" tIns="0" rIns="0" bIns="0" rtlCol="0" anchor="t"/>
          <a:lstStyle/>
          <a:p>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Develop an automated system to segment the </a:t>
            </a:r>
            <a:pPr algn="l" indent="0" marL="0">
              <a:lnSpc>
                <a:spcPts val="2600"/>
              </a:lnSpc>
              <a:buNone/>
            </a:pPr>
            <a:r>
              <a:rPr lang="en-US" sz="1600" b="1" dirty="0">
                <a:solidFill>
                  <a:srgbClr val="26A688"/>
                </a:solidFill>
                <a:latin typeface="Roboto" pitchFamily="34" charset="0"/>
                <a:ea typeface="Roboto" pitchFamily="34" charset="-122"/>
                <a:cs typeface="Roboto" pitchFamily="34" charset="-120"/>
              </a:rPr>
              <a:t>Liver</a:t>
            </a:r>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 (Organ) and </a:t>
            </a:r>
            <a:pPr algn="l" indent="0" marL="0">
              <a:lnSpc>
                <a:spcPts val="2600"/>
              </a:lnSpc>
              <a:buNone/>
            </a:pPr>
            <a:r>
              <a:rPr lang="en-US" sz="1600" b="1" dirty="0">
                <a:solidFill>
                  <a:srgbClr val="26A688"/>
                </a:solidFill>
                <a:latin typeface="Roboto" pitchFamily="34" charset="0"/>
                <a:ea typeface="Roboto" pitchFamily="34" charset="-122"/>
                <a:cs typeface="Roboto" pitchFamily="34" charset="-120"/>
              </a:rPr>
              <a:t>Masses</a:t>
            </a:r>
            <a:pPr algn="l" indent="0" marL="0">
              <a:lnSpc>
                <a:spcPts val="2600"/>
              </a:lnSpc>
              <a:buNone/>
            </a:pPr>
            <a:r>
              <a:rPr lang="en-US" sz="1600" dirty="0">
                <a:solidFill>
                  <a:srgbClr val="3C3939"/>
                </a:solidFill>
                <a:latin typeface="Roboto" pitchFamily="34" charset="0"/>
                <a:ea typeface="Roboto" pitchFamily="34" charset="-122"/>
                <a:cs typeface="Roboto" pitchFamily="34" charset="-120"/>
              </a:rPr>
              <a:t> (Lesions) to assist doctors.</a:t>
            </a:r>
            <a:endParaRPr lang="en-US" sz="1600" dirty="0"/>
          </a:p>
        </p:txBody>
      </p:sp>
      <p:sp>
        <p:nvSpPr>
          <p:cNvPr id="16" name="Shape 14"/>
          <p:cNvSpPr/>
          <p:nvPr/>
        </p:nvSpPr>
        <p:spPr>
          <a:xfrm>
            <a:off x="724138" y="6280071"/>
            <a:ext cx="13182124" cy="1209913"/>
          </a:xfrm>
          <a:prstGeom prst="roundRect">
            <a:avLst>
              <a:gd name="adj" fmla="val 7182"/>
            </a:avLst>
          </a:prstGeom>
          <a:solidFill>
            <a:srgbClr val="D2D2E0"/>
          </a:solidFill>
          <a:ln/>
        </p:spPr>
      </p:sp>
      <p:pic>
        <p:nvPicPr>
          <p:cNvPr id="17" name="Image 0" descr="preencoded.png">    </p:cNvPr>
          <p:cNvPicPr>
            <a:picLocks noChangeAspect="1"/>
          </p:cNvPicPr>
          <p:nvPr/>
        </p:nvPicPr>
        <p:blipFill>
          <a:blip r:embed="rId1"/>
          <a:stretch>
            <a:fillRect/>
          </a:stretch>
        </p:blipFill>
        <p:spPr>
          <a:xfrm>
            <a:off x="930950" y="6586180"/>
            <a:ext cx="258604" cy="206812"/>
          </a:xfrm>
          <a:prstGeom prst="rect">
            <a:avLst/>
          </a:prstGeom>
        </p:spPr>
      </p:pic>
      <p:sp>
        <p:nvSpPr>
          <p:cNvPr id="18" name="Text 15"/>
          <p:cNvSpPr/>
          <p:nvPr/>
        </p:nvSpPr>
        <p:spPr>
          <a:xfrm>
            <a:off x="1396365" y="6538555"/>
            <a:ext cx="12303085" cy="661988"/>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Roboto" pitchFamily="34" charset="0"/>
                <a:ea typeface="Roboto" pitchFamily="34" charset="-122"/>
                <a:cs typeface="Roboto" pitchFamily="34" charset="-120"/>
              </a:rPr>
              <a:t>Ultrasound is great, but it's noisy. Unlike CT or MRI, ultrasound images suffer from 'speckle noise'—that grainy texture you see. This makes it incredibly hard to tell where the liver ends and a tumor begins. Our goal was to build an AI that can see through this noise.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91020"/>
            <a:ext cx="7264718"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The Dataset &amp; Data Journey</a:t>
            </a:r>
            <a:endParaRPr lang="en-US" sz="4450" dirty="0"/>
          </a:p>
        </p:txBody>
      </p:sp>
      <p:sp>
        <p:nvSpPr>
          <p:cNvPr id="3" name="Text 1"/>
          <p:cNvSpPr/>
          <p:nvPr/>
        </p:nvSpPr>
        <p:spPr>
          <a:xfrm>
            <a:off x="793790" y="2290524"/>
            <a:ext cx="9484757"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Source: Annotated Ultrasound Liver Images Dataset (Kaggle)</a:t>
            </a:r>
            <a:endParaRPr lang="en-US" sz="2650" dirty="0"/>
          </a:p>
        </p:txBody>
      </p:sp>
      <p:sp>
        <p:nvSpPr>
          <p:cNvPr id="4" name="Text 2"/>
          <p:cNvSpPr/>
          <p:nvPr/>
        </p:nvSpPr>
        <p:spPr>
          <a:xfrm>
            <a:off x="793790" y="32827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Raw Data Format</a:t>
            </a:r>
            <a:endParaRPr lang="en-US" sz="2200" dirty="0"/>
          </a:p>
        </p:txBody>
      </p:sp>
      <p:sp>
        <p:nvSpPr>
          <p:cNvPr id="5" name="Text 3"/>
          <p:cNvSpPr/>
          <p:nvPr/>
        </p:nvSpPr>
        <p:spPr>
          <a:xfrm>
            <a:off x="793790" y="3863935"/>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Input:</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Ultrasound Scans (JPG)</a:t>
            </a:r>
            <a:endParaRPr lang="en-US" sz="1750" dirty="0"/>
          </a:p>
        </p:txBody>
      </p:sp>
      <p:sp>
        <p:nvSpPr>
          <p:cNvPr id="6" name="Text 4"/>
          <p:cNvSpPr/>
          <p:nvPr/>
        </p:nvSpPr>
        <p:spPr>
          <a:xfrm>
            <a:off x="793790" y="430613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Annotations:</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Coordinate Polygons stored in JSON files</a:t>
            </a:r>
            <a:endParaRPr lang="en-US" sz="1750" dirty="0"/>
          </a:p>
        </p:txBody>
      </p:sp>
      <p:sp>
        <p:nvSpPr>
          <p:cNvPr id="7" name="Text 5"/>
          <p:cNvSpPr/>
          <p:nvPr/>
        </p:nvSpPr>
        <p:spPr>
          <a:xfrm>
            <a:off x="7599521" y="3282791"/>
            <a:ext cx="3285768"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Preprocessing Challenge</a:t>
            </a:r>
            <a:endParaRPr lang="en-US" sz="2200" dirty="0"/>
          </a:p>
        </p:txBody>
      </p:sp>
      <p:sp>
        <p:nvSpPr>
          <p:cNvPr id="8" name="Text 6"/>
          <p:cNvSpPr/>
          <p:nvPr/>
        </p:nvSpPr>
        <p:spPr>
          <a:xfrm>
            <a:off x="7599521" y="3863935"/>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Deep learning models cannot read JSON coordinates directly; they need "Mask Images."</a:t>
            </a:r>
            <a:endParaRPr lang="en-US" sz="1750" dirty="0"/>
          </a:p>
        </p:txBody>
      </p:sp>
      <p:sp>
        <p:nvSpPr>
          <p:cNvPr id="9" name="Shape 7"/>
          <p:cNvSpPr/>
          <p:nvPr/>
        </p:nvSpPr>
        <p:spPr>
          <a:xfrm>
            <a:off x="793790" y="5048964"/>
            <a:ext cx="13042821" cy="1689616"/>
          </a:xfrm>
          <a:prstGeom prst="roundRect">
            <a:avLst>
              <a:gd name="adj" fmla="val 5638"/>
            </a:avLst>
          </a:prstGeom>
          <a:solidFill>
            <a:srgbClr val="D2D2E0"/>
          </a:solidFill>
          <a:ln/>
        </p:spPr>
      </p:sp>
      <p:pic>
        <p:nvPicPr>
          <p:cNvPr id="10" name="Image 0" descr="preencoded.png">    </p:cNvPr>
          <p:cNvPicPr>
            <a:picLocks noChangeAspect="1"/>
          </p:cNvPicPr>
          <p:nvPr/>
        </p:nvPicPr>
        <p:blipFill>
          <a:blip r:embed="rId1"/>
          <a:stretch>
            <a:fillRect/>
          </a:stretch>
        </p:blipFill>
        <p:spPr>
          <a:xfrm>
            <a:off x="1020604" y="5393055"/>
            <a:ext cx="283488" cy="226814"/>
          </a:xfrm>
          <a:prstGeom prst="rect">
            <a:avLst/>
          </a:prstGeom>
        </p:spPr>
      </p:pic>
      <p:sp>
        <p:nvSpPr>
          <p:cNvPr id="11" name="Text 8"/>
          <p:cNvSpPr/>
          <p:nvPr/>
        </p:nvSpPr>
        <p:spPr>
          <a:xfrm>
            <a:off x="1530906" y="5332452"/>
            <a:ext cx="1207889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We started with raw ultrasound scans and their corresponding annotations, which were provided as JSON files containing coordinate points—essentially connect-the-dots for the liver shapes. We couldn't feed this directly into a neural network.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0801" y="695444"/>
            <a:ext cx="9998750" cy="616744"/>
          </a:xfrm>
          <a:prstGeom prst="rect">
            <a:avLst/>
          </a:prstGeom>
          <a:noFill/>
          <a:ln/>
        </p:spPr>
        <p:txBody>
          <a:bodyPr wrap="none" lIns="0" tIns="0" rIns="0" bIns="0" rtlCol="0" anchor="t"/>
          <a:lstStyle/>
          <a:p>
            <a:pPr algn="l" indent="0" marL="0">
              <a:lnSpc>
                <a:spcPts val="4850"/>
              </a:lnSpc>
              <a:buNone/>
            </a:pPr>
            <a:r>
              <a:rPr lang="en-US" sz="3850" dirty="0">
                <a:solidFill>
                  <a:srgbClr val="1B1B27"/>
                </a:solidFill>
                <a:latin typeface="Raleway" pitchFamily="34" charset="0"/>
                <a:ea typeface="Raleway" pitchFamily="34" charset="-122"/>
                <a:cs typeface="Raleway" pitchFamily="34" charset="-120"/>
              </a:rPr>
              <a:t>Data Engineering: JSON to Mask Conversion</a:t>
            </a:r>
            <a:endParaRPr lang="en-US" sz="3850" dirty="0"/>
          </a:p>
        </p:txBody>
      </p:sp>
      <p:sp>
        <p:nvSpPr>
          <p:cNvPr id="3" name="Text 1"/>
          <p:cNvSpPr/>
          <p:nvPr/>
        </p:nvSpPr>
        <p:spPr>
          <a:xfrm>
            <a:off x="690801" y="1391126"/>
            <a:ext cx="2960608" cy="370046"/>
          </a:xfrm>
          <a:prstGeom prst="rect">
            <a:avLst/>
          </a:prstGeom>
          <a:noFill/>
          <a:ln/>
        </p:spPr>
        <p:txBody>
          <a:bodyPr wrap="none" lIns="0" tIns="0" rIns="0" bIns="0" rtlCol="0" anchor="t"/>
          <a:lstStyle/>
          <a:p>
            <a:pPr algn="l" indent="0" marL="0">
              <a:lnSpc>
                <a:spcPts val="2900"/>
              </a:lnSpc>
              <a:buNone/>
            </a:pPr>
            <a:r>
              <a:rPr lang="en-US" sz="2300" dirty="0">
                <a:solidFill>
                  <a:srgbClr val="1B1B27"/>
                </a:solidFill>
                <a:latin typeface="Raleway" pitchFamily="34" charset="0"/>
                <a:ea typeface="Raleway" pitchFamily="34" charset="-122"/>
                <a:cs typeface="Raleway" pitchFamily="34" charset="-120"/>
              </a:rPr>
              <a:t>The Process:</a:t>
            </a:r>
            <a:endParaRPr lang="en-US" sz="2300" dirty="0"/>
          </a:p>
        </p:txBody>
      </p:sp>
      <p:sp>
        <p:nvSpPr>
          <p:cNvPr id="4" name="Shape 2"/>
          <p:cNvSpPr/>
          <p:nvPr/>
        </p:nvSpPr>
        <p:spPr>
          <a:xfrm>
            <a:off x="690801" y="2057162"/>
            <a:ext cx="443984" cy="443984"/>
          </a:xfrm>
          <a:prstGeom prst="roundRect">
            <a:avLst>
              <a:gd name="adj" fmla="val 18671"/>
            </a:avLst>
          </a:prstGeom>
          <a:solidFill>
            <a:srgbClr val="E1E1EA"/>
          </a:solidFill>
          <a:ln w="7620">
            <a:solidFill>
              <a:srgbClr val="C7C7D0"/>
            </a:solidFill>
            <a:prstDash val="solid"/>
          </a:ln>
        </p:spPr>
      </p:sp>
      <p:sp>
        <p:nvSpPr>
          <p:cNvPr id="5" name="Text 3"/>
          <p:cNvSpPr/>
          <p:nvPr/>
        </p:nvSpPr>
        <p:spPr>
          <a:xfrm>
            <a:off x="764738" y="2094071"/>
            <a:ext cx="295989" cy="370046"/>
          </a:xfrm>
          <a:prstGeom prst="rect">
            <a:avLst/>
          </a:prstGeom>
          <a:noFill/>
          <a:ln/>
        </p:spPr>
        <p:txBody>
          <a:bodyPr wrap="none" lIns="0" tIns="0" rIns="0" bIns="0" rtlCol="0" anchor="t"/>
          <a:lstStyle/>
          <a:p>
            <a:pPr algn="ctr" indent="0" marL="0">
              <a:lnSpc>
                <a:spcPts val="2300"/>
              </a:lnSpc>
              <a:buNone/>
            </a:pPr>
            <a:r>
              <a:rPr lang="en-US" sz="2300" dirty="0">
                <a:solidFill>
                  <a:srgbClr val="3C3939"/>
                </a:solidFill>
                <a:latin typeface="Raleway" pitchFamily="34" charset="0"/>
                <a:ea typeface="Raleway" pitchFamily="34" charset="-122"/>
                <a:cs typeface="Raleway" pitchFamily="34" charset="-120"/>
              </a:rPr>
              <a:t>1</a:t>
            </a:r>
            <a:endParaRPr lang="en-US" sz="2300" dirty="0"/>
          </a:p>
        </p:txBody>
      </p:sp>
      <p:sp>
        <p:nvSpPr>
          <p:cNvPr id="6" name="Text 4"/>
          <p:cNvSpPr/>
          <p:nvPr/>
        </p:nvSpPr>
        <p:spPr>
          <a:xfrm>
            <a:off x="1332071" y="2124908"/>
            <a:ext cx="2467094" cy="308372"/>
          </a:xfrm>
          <a:prstGeom prst="rect">
            <a:avLst/>
          </a:prstGeom>
          <a:noFill/>
          <a:ln/>
        </p:spPr>
        <p:txBody>
          <a:bodyPr wrap="none" lIns="0" tIns="0" rIns="0" bIns="0" rtlCol="0" anchor="t"/>
          <a:lstStyle/>
          <a:p>
            <a:pPr algn="l" indent="0" marL="0">
              <a:lnSpc>
                <a:spcPts val="2400"/>
              </a:lnSpc>
              <a:buNone/>
            </a:pPr>
            <a:r>
              <a:rPr lang="en-US" sz="1900" dirty="0">
                <a:solidFill>
                  <a:srgbClr val="3C3939"/>
                </a:solidFill>
                <a:latin typeface="Raleway" pitchFamily="34" charset="0"/>
                <a:ea typeface="Raleway" pitchFamily="34" charset="-122"/>
                <a:cs typeface="Raleway" pitchFamily="34" charset="-120"/>
              </a:rPr>
              <a:t>Parsing</a:t>
            </a:r>
            <a:endParaRPr lang="en-US" sz="1900" dirty="0"/>
          </a:p>
        </p:txBody>
      </p:sp>
      <p:sp>
        <p:nvSpPr>
          <p:cNvPr id="7" name="Text 5"/>
          <p:cNvSpPr/>
          <p:nvPr/>
        </p:nvSpPr>
        <p:spPr>
          <a:xfrm>
            <a:off x="1332071" y="2551628"/>
            <a:ext cx="3610451" cy="631507"/>
          </a:xfrm>
          <a:prstGeom prst="rect">
            <a:avLst/>
          </a:prstGeom>
          <a:noFill/>
          <a:ln/>
        </p:spPr>
        <p:txBody>
          <a:bodyPr wrap="square" lIns="0" tIns="0" rIns="0" bIns="0" rtlCol="0" anchor="t"/>
          <a:lstStyle/>
          <a:p>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Extracted (x, y) coordinates for "Liver" and "Mass" classes from JSON.</a:t>
            </a:r>
            <a:endParaRPr lang="en-US" sz="1550" dirty="0"/>
          </a:p>
        </p:txBody>
      </p:sp>
      <p:sp>
        <p:nvSpPr>
          <p:cNvPr id="8" name="Shape 6"/>
          <p:cNvSpPr/>
          <p:nvPr/>
        </p:nvSpPr>
        <p:spPr>
          <a:xfrm>
            <a:off x="5189220" y="2057162"/>
            <a:ext cx="443984" cy="443984"/>
          </a:xfrm>
          <a:prstGeom prst="roundRect">
            <a:avLst>
              <a:gd name="adj" fmla="val 18671"/>
            </a:avLst>
          </a:prstGeom>
          <a:solidFill>
            <a:srgbClr val="E1E1EA"/>
          </a:solidFill>
          <a:ln w="7620">
            <a:solidFill>
              <a:srgbClr val="C7C7D0"/>
            </a:solidFill>
            <a:prstDash val="solid"/>
          </a:ln>
        </p:spPr>
      </p:sp>
      <p:sp>
        <p:nvSpPr>
          <p:cNvPr id="9" name="Text 7"/>
          <p:cNvSpPr/>
          <p:nvPr/>
        </p:nvSpPr>
        <p:spPr>
          <a:xfrm>
            <a:off x="5263158" y="2094071"/>
            <a:ext cx="295989" cy="370046"/>
          </a:xfrm>
          <a:prstGeom prst="rect">
            <a:avLst/>
          </a:prstGeom>
          <a:noFill/>
          <a:ln/>
        </p:spPr>
        <p:txBody>
          <a:bodyPr wrap="none" lIns="0" tIns="0" rIns="0" bIns="0" rtlCol="0" anchor="t"/>
          <a:lstStyle/>
          <a:p>
            <a:pPr algn="ctr" indent="0" marL="0">
              <a:lnSpc>
                <a:spcPts val="2300"/>
              </a:lnSpc>
              <a:buNone/>
            </a:pPr>
            <a:r>
              <a:rPr lang="en-US" sz="2300" dirty="0">
                <a:solidFill>
                  <a:srgbClr val="3C3939"/>
                </a:solidFill>
                <a:latin typeface="Raleway" pitchFamily="34" charset="0"/>
                <a:ea typeface="Raleway" pitchFamily="34" charset="-122"/>
                <a:cs typeface="Raleway" pitchFamily="34" charset="-120"/>
              </a:rPr>
              <a:t>2</a:t>
            </a:r>
            <a:endParaRPr lang="en-US" sz="2300" dirty="0"/>
          </a:p>
        </p:txBody>
      </p:sp>
      <p:sp>
        <p:nvSpPr>
          <p:cNvPr id="10" name="Text 8"/>
          <p:cNvSpPr/>
          <p:nvPr/>
        </p:nvSpPr>
        <p:spPr>
          <a:xfrm>
            <a:off x="5830491" y="2124908"/>
            <a:ext cx="2467094" cy="308372"/>
          </a:xfrm>
          <a:prstGeom prst="rect">
            <a:avLst/>
          </a:prstGeom>
          <a:noFill/>
          <a:ln/>
        </p:spPr>
        <p:txBody>
          <a:bodyPr wrap="none" lIns="0" tIns="0" rIns="0" bIns="0" rtlCol="0" anchor="t"/>
          <a:lstStyle/>
          <a:p>
            <a:pPr algn="l" indent="0" marL="0">
              <a:lnSpc>
                <a:spcPts val="2400"/>
              </a:lnSpc>
              <a:buNone/>
            </a:pPr>
            <a:r>
              <a:rPr lang="en-US" sz="1900" dirty="0">
                <a:solidFill>
                  <a:srgbClr val="3C3939"/>
                </a:solidFill>
                <a:latin typeface="Raleway" pitchFamily="34" charset="0"/>
                <a:ea typeface="Raleway" pitchFamily="34" charset="-122"/>
                <a:cs typeface="Raleway" pitchFamily="34" charset="-120"/>
              </a:rPr>
              <a:t>Rasterization</a:t>
            </a:r>
            <a:endParaRPr lang="en-US" sz="1900" dirty="0"/>
          </a:p>
        </p:txBody>
      </p:sp>
      <p:sp>
        <p:nvSpPr>
          <p:cNvPr id="11" name="Text 9"/>
          <p:cNvSpPr/>
          <p:nvPr/>
        </p:nvSpPr>
        <p:spPr>
          <a:xfrm>
            <a:off x="5830491" y="2551628"/>
            <a:ext cx="3610570" cy="631507"/>
          </a:xfrm>
          <a:prstGeom prst="rect">
            <a:avLst/>
          </a:prstGeom>
          <a:noFill/>
          <a:ln/>
        </p:spPr>
        <p:txBody>
          <a:bodyPr wrap="square" lIns="0" tIns="0" rIns="0" bIns="0" rtlCol="0" anchor="t"/>
          <a:lstStyle/>
          <a:p>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Used Computer Vision (OpenCV) to "fill" these polygons into pixel maps.</a:t>
            </a:r>
            <a:endParaRPr lang="en-US" sz="1550" dirty="0"/>
          </a:p>
        </p:txBody>
      </p:sp>
      <p:sp>
        <p:nvSpPr>
          <p:cNvPr id="12" name="Shape 10"/>
          <p:cNvSpPr/>
          <p:nvPr/>
        </p:nvSpPr>
        <p:spPr>
          <a:xfrm>
            <a:off x="9687758" y="2057162"/>
            <a:ext cx="443984" cy="443984"/>
          </a:xfrm>
          <a:prstGeom prst="roundRect">
            <a:avLst>
              <a:gd name="adj" fmla="val 18671"/>
            </a:avLst>
          </a:prstGeom>
          <a:solidFill>
            <a:srgbClr val="E1E1EA"/>
          </a:solidFill>
          <a:ln w="7620">
            <a:solidFill>
              <a:srgbClr val="C7C7D0"/>
            </a:solidFill>
            <a:prstDash val="solid"/>
          </a:ln>
        </p:spPr>
      </p:sp>
      <p:sp>
        <p:nvSpPr>
          <p:cNvPr id="13" name="Text 11"/>
          <p:cNvSpPr/>
          <p:nvPr/>
        </p:nvSpPr>
        <p:spPr>
          <a:xfrm>
            <a:off x="9761696" y="2094071"/>
            <a:ext cx="295989" cy="370046"/>
          </a:xfrm>
          <a:prstGeom prst="rect">
            <a:avLst/>
          </a:prstGeom>
          <a:noFill/>
          <a:ln/>
        </p:spPr>
        <p:txBody>
          <a:bodyPr wrap="none" lIns="0" tIns="0" rIns="0" bIns="0" rtlCol="0" anchor="t"/>
          <a:lstStyle/>
          <a:p>
            <a:pPr algn="ctr" indent="0" marL="0">
              <a:lnSpc>
                <a:spcPts val="2300"/>
              </a:lnSpc>
              <a:buNone/>
            </a:pPr>
            <a:r>
              <a:rPr lang="en-US" sz="2300" dirty="0">
                <a:solidFill>
                  <a:srgbClr val="3C3939"/>
                </a:solidFill>
                <a:latin typeface="Raleway" pitchFamily="34" charset="0"/>
                <a:ea typeface="Raleway" pitchFamily="34" charset="-122"/>
                <a:cs typeface="Raleway" pitchFamily="34" charset="-120"/>
              </a:rPr>
              <a:t>3</a:t>
            </a:r>
            <a:endParaRPr lang="en-US" sz="2300" dirty="0"/>
          </a:p>
        </p:txBody>
      </p:sp>
      <p:sp>
        <p:nvSpPr>
          <p:cNvPr id="14" name="Text 12"/>
          <p:cNvSpPr/>
          <p:nvPr/>
        </p:nvSpPr>
        <p:spPr>
          <a:xfrm>
            <a:off x="10329029" y="2124908"/>
            <a:ext cx="3537228" cy="308372"/>
          </a:xfrm>
          <a:prstGeom prst="rect">
            <a:avLst/>
          </a:prstGeom>
          <a:noFill/>
          <a:ln/>
        </p:spPr>
        <p:txBody>
          <a:bodyPr wrap="none" lIns="0" tIns="0" rIns="0" bIns="0" rtlCol="0" anchor="t"/>
          <a:lstStyle/>
          <a:p>
            <a:pPr algn="l" indent="0" marL="0">
              <a:lnSpc>
                <a:spcPts val="2400"/>
              </a:lnSpc>
              <a:buNone/>
            </a:pPr>
            <a:r>
              <a:rPr lang="en-US" sz="1900" dirty="0">
                <a:solidFill>
                  <a:srgbClr val="3C3939"/>
                </a:solidFill>
                <a:latin typeface="Raleway" pitchFamily="34" charset="0"/>
                <a:ea typeface="Raleway" pitchFamily="34" charset="-122"/>
                <a:cs typeface="Raleway" pitchFamily="34" charset="-120"/>
              </a:rPr>
              <a:t>Handling Overlap (Critical Step)</a:t>
            </a:r>
            <a:endParaRPr lang="en-US" sz="1900" dirty="0"/>
          </a:p>
        </p:txBody>
      </p:sp>
      <p:sp>
        <p:nvSpPr>
          <p:cNvPr id="15" name="Text 13"/>
          <p:cNvSpPr/>
          <p:nvPr/>
        </p:nvSpPr>
        <p:spPr>
          <a:xfrm>
            <a:off x="10329029" y="2551628"/>
            <a:ext cx="3610570" cy="315754"/>
          </a:xfrm>
          <a:prstGeom prst="rect">
            <a:avLst/>
          </a:prstGeom>
          <a:noFill/>
          <a:ln/>
        </p:spPr>
        <p:txBody>
          <a:bodyPr wrap="none" lIns="0" tIns="0" rIns="0" bIns="0" rtlCol="0" anchor="t"/>
          <a:lstStyle/>
          <a:p>
            <a:pPr algn="l" indent="0" marL="0">
              <a:lnSpc>
                <a:spcPts val="2450"/>
              </a:lnSpc>
              <a:buNone/>
            </a:pPr>
            <a:r>
              <a:rPr lang="en-US" sz="1550" b="1" dirty="0">
                <a:solidFill>
                  <a:srgbClr val="3C3939"/>
                </a:solidFill>
                <a:latin typeface="Roboto" pitchFamily="34" charset="0"/>
                <a:ea typeface="Roboto" pitchFamily="34" charset="-122"/>
                <a:cs typeface="Roboto" pitchFamily="34" charset="-120"/>
              </a:rPr>
              <a:t>Issue:</a:t>
            </a:r>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 A Mass is </a:t>
            </a:r>
            <a:pPr algn="l" indent="0" marL="0">
              <a:lnSpc>
                <a:spcPts val="2450"/>
              </a:lnSpc>
              <a:buNone/>
            </a:pPr>
            <a:r>
              <a:rPr lang="en-US" sz="1550" i="1" dirty="0">
                <a:solidFill>
                  <a:srgbClr val="3C3939"/>
                </a:solidFill>
                <a:latin typeface="Roboto" pitchFamily="34" charset="0"/>
                <a:ea typeface="Roboto" pitchFamily="34" charset="-122"/>
                <a:cs typeface="Roboto" pitchFamily="34" charset="-120"/>
              </a:rPr>
              <a:t>inside</a:t>
            </a:r>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 the Liver.</a:t>
            </a:r>
            <a:endParaRPr lang="en-US" sz="1550" dirty="0"/>
          </a:p>
        </p:txBody>
      </p:sp>
      <p:sp>
        <p:nvSpPr>
          <p:cNvPr id="16" name="Text 14"/>
          <p:cNvSpPr/>
          <p:nvPr/>
        </p:nvSpPr>
        <p:spPr>
          <a:xfrm>
            <a:off x="10329029" y="2985730"/>
            <a:ext cx="3610570" cy="1578769"/>
          </a:xfrm>
          <a:prstGeom prst="rect">
            <a:avLst/>
          </a:prstGeom>
          <a:noFill/>
          <a:ln/>
        </p:spPr>
        <p:txBody>
          <a:bodyPr wrap="square" lIns="0" tIns="0" rIns="0" bIns="0" rtlCol="0" anchor="t"/>
          <a:lstStyle/>
          <a:p>
            <a:pPr algn="l" indent="0" marL="0">
              <a:lnSpc>
                <a:spcPts val="2450"/>
              </a:lnSpc>
              <a:buNone/>
            </a:pPr>
            <a:r>
              <a:rPr lang="en-US" sz="1550" b="1" dirty="0">
                <a:solidFill>
                  <a:srgbClr val="3C3939"/>
                </a:solidFill>
                <a:latin typeface="Roboto" pitchFamily="34" charset="0"/>
                <a:ea typeface="Roboto" pitchFamily="34" charset="-122"/>
                <a:cs typeface="Roboto" pitchFamily="34" charset="-120"/>
              </a:rPr>
              <a:t>Solution:</a:t>
            </a:r>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 Implemented a priority layering system. We draw the </a:t>
            </a:r>
            <a:pPr algn="l" indent="0" marL="0">
              <a:lnSpc>
                <a:spcPts val="2450"/>
              </a:lnSpc>
              <a:buNone/>
            </a:pPr>
            <a:r>
              <a:rPr lang="en-US" sz="1550" b="1" dirty="0">
                <a:solidFill>
                  <a:srgbClr val="26A688"/>
                </a:solidFill>
                <a:latin typeface="Roboto" pitchFamily="34" charset="0"/>
                <a:ea typeface="Roboto" pitchFamily="34" charset="-122"/>
                <a:cs typeface="Roboto" pitchFamily="34" charset="-120"/>
              </a:rPr>
              <a:t>Liver</a:t>
            </a:r>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 mask first (Class 1), and then overlay the </a:t>
            </a:r>
            <a:pPr algn="l" indent="0" marL="0">
              <a:lnSpc>
                <a:spcPts val="2450"/>
              </a:lnSpc>
              <a:buNone/>
            </a:pPr>
            <a:r>
              <a:rPr lang="en-US" sz="1550" b="1" dirty="0">
                <a:solidFill>
                  <a:srgbClr val="26A688"/>
                </a:solidFill>
                <a:latin typeface="Roboto" pitchFamily="34" charset="0"/>
                <a:ea typeface="Roboto" pitchFamily="34" charset="-122"/>
                <a:cs typeface="Roboto" pitchFamily="34" charset="-120"/>
              </a:rPr>
              <a:t>Mass</a:t>
            </a:r>
            <a:pPr algn="l" indent="0" marL="0">
              <a:lnSpc>
                <a:spcPts val="2450"/>
              </a:lnSpc>
              <a:buNone/>
            </a:pPr>
            <a:r>
              <a:rPr lang="en-US" sz="1550" dirty="0">
                <a:solidFill>
                  <a:srgbClr val="3C3939"/>
                </a:solidFill>
                <a:latin typeface="Roboto" pitchFamily="34" charset="0"/>
                <a:ea typeface="Roboto" pitchFamily="34" charset="-122"/>
                <a:cs typeface="Roboto" pitchFamily="34" charset="-120"/>
              </a:rPr>
              <a:t> mask (Class 2) on top of it to ensure distinct class boundaries.</a:t>
            </a:r>
            <a:endParaRPr lang="en-US" sz="1550" dirty="0"/>
          </a:p>
        </p:txBody>
      </p:sp>
      <p:sp>
        <p:nvSpPr>
          <p:cNvPr id="17" name="Text 15"/>
          <p:cNvSpPr/>
          <p:nvPr/>
        </p:nvSpPr>
        <p:spPr>
          <a:xfrm>
            <a:off x="690801" y="4860488"/>
            <a:ext cx="3614380" cy="370046"/>
          </a:xfrm>
          <a:prstGeom prst="rect">
            <a:avLst/>
          </a:prstGeom>
          <a:noFill/>
          <a:ln/>
        </p:spPr>
        <p:txBody>
          <a:bodyPr wrap="none" lIns="0" tIns="0" rIns="0" bIns="0" rtlCol="0" anchor="t"/>
          <a:lstStyle/>
          <a:p>
            <a:pPr algn="l" indent="0" marL="0">
              <a:lnSpc>
                <a:spcPts val="2900"/>
              </a:lnSpc>
              <a:buNone/>
            </a:pPr>
            <a:r>
              <a:rPr lang="en-US" sz="2300" dirty="0">
                <a:solidFill>
                  <a:srgbClr val="1B1B27"/>
                </a:solidFill>
                <a:latin typeface="Raleway" pitchFamily="34" charset="0"/>
                <a:ea typeface="Raleway" pitchFamily="34" charset="-122"/>
                <a:cs typeface="Raleway" pitchFamily="34" charset="-120"/>
              </a:rPr>
              <a:t>Final Output: 3-Class Mask</a:t>
            </a:r>
            <a:endParaRPr lang="en-US" sz="2300" dirty="0"/>
          </a:p>
        </p:txBody>
      </p:sp>
      <p:sp>
        <p:nvSpPr>
          <p:cNvPr id="18" name="Text 16"/>
          <p:cNvSpPr/>
          <p:nvPr/>
        </p:nvSpPr>
        <p:spPr>
          <a:xfrm>
            <a:off x="690801" y="5526524"/>
            <a:ext cx="13248799" cy="315754"/>
          </a:xfrm>
          <a:prstGeom prst="rect">
            <a:avLst/>
          </a:prstGeom>
          <a:noFill/>
          <a:ln/>
        </p:spPr>
        <p:txBody>
          <a:bodyPr wrap="none" lIns="0" tIns="0" rIns="0" bIns="0" rtlCol="0" anchor="t"/>
          <a:lstStyle/>
          <a:p>
            <a:pPr algn="l" indent="0" marL="0">
              <a:lnSpc>
                <a:spcPts val="2450"/>
              </a:lnSpc>
              <a:buNone/>
            </a:pPr>
            <a:r>
              <a:rPr lang="en-US" sz="1550" b="1" dirty="0">
                <a:solidFill>
                  <a:srgbClr val="26A688"/>
                </a:solidFill>
                <a:latin typeface="Roboto" pitchFamily="34" charset="0"/>
                <a:ea typeface="Roboto" pitchFamily="34" charset="-122"/>
                <a:cs typeface="Roboto" pitchFamily="34" charset="-120"/>
              </a:rPr>
              <a:t>0: Background, 1: Liver, 2: Mass</a:t>
            </a:r>
            <a:endParaRPr lang="en-US" sz="1550" dirty="0"/>
          </a:p>
        </p:txBody>
      </p:sp>
      <p:sp>
        <p:nvSpPr>
          <p:cNvPr id="19" name="Shape 17"/>
          <p:cNvSpPr/>
          <p:nvPr/>
        </p:nvSpPr>
        <p:spPr>
          <a:xfrm>
            <a:off x="690801" y="6064210"/>
            <a:ext cx="13248799" cy="1469946"/>
          </a:xfrm>
          <a:prstGeom prst="roundRect">
            <a:avLst>
              <a:gd name="adj" fmla="val 5639"/>
            </a:avLst>
          </a:prstGeom>
          <a:solidFill>
            <a:srgbClr val="D2D2E0"/>
          </a:solidFill>
          <a:ln/>
        </p:spPr>
      </p:sp>
      <p:pic>
        <p:nvPicPr>
          <p:cNvPr id="20" name="Image 0" descr="preencoded.png">    </p:cNvPr>
          <p:cNvPicPr>
            <a:picLocks noChangeAspect="1"/>
          </p:cNvPicPr>
          <p:nvPr/>
        </p:nvPicPr>
        <p:blipFill>
          <a:blip r:embed="rId1"/>
          <a:stretch>
            <a:fillRect/>
          </a:stretch>
        </p:blipFill>
        <p:spPr>
          <a:xfrm>
            <a:off x="888087" y="6359128"/>
            <a:ext cx="246698" cy="197287"/>
          </a:xfrm>
          <a:prstGeom prst="rect">
            <a:avLst/>
          </a:prstGeom>
        </p:spPr>
      </p:pic>
      <p:sp>
        <p:nvSpPr>
          <p:cNvPr id="21" name="Text 18"/>
          <p:cNvSpPr/>
          <p:nvPr/>
        </p:nvSpPr>
        <p:spPr>
          <a:xfrm>
            <a:off x="1332071" y="6310789"/>
            <a:ext cx="12410242" cy="947261"/>
          </a:xfrm>
          <a:prstGeom prst="rect">
            <a:avLst/>
          </a:prstGeom>
          <a:noFill/>
          <a:ln/>
        </p:spPr>
        <p:txBody>
          <a:bodyPr wrap="square" lIns="0" tIns="0" rIns="0" bIns="0" rtlCol="0" anchor="t"/>
          <a:lstStyle/>
          <a:p>
            <a:pPr algn="l" indent="0" marL="0">
              <a:lnSpc>
                <a:spcPts val="2450"/>
              </a:lnSpc>
              <a:buNone/>
            </a:pPr>
            <a:r>
              <a:rPr lang="en-US" sz="1550" dirty="0">
                <a:solidFill>
                  <a:srgbClr val="000000"/>
                </a:solidFill>
                <a:latin typeface="Roboto" pitchFamily="34" charset="0"/>
                <a:ea typeface="Roboto" pitchFamily="34" charset="-122"/>
                <a:cs typeface="Roboto" pitchFamily="34" charset="-120"/>
              </a:rPr>
              <a:t>This was a crucial engineering step. We wrote a script to convert those JSON coordinates into image masks. A key challenge was overlap: since tumors are </a:t>
            </a:r>
            <a:pPr algn="l" indent="0" marL="0">
              <a:lnSpc>
                <a:spcPts val="2450"/>
              </a:lnSpc>
              <a:buNone/>
            </a:pPr>
            <a:r>
              <a:rPr lang="en-US" sz="1550" i="1" dirty="0">
                <a:solidFill>
                  <a:srgbClr val="000000"/>
                </a:solidFill>
                <a:latin typeface="Roboto" pitchFamily="34" charset="0"/>
                <a:ea typeface="Roboto" pitchFamily="34" charset="-122"/>
                <a:cs typeface="Roboto" pitchFamily="34" charset="-120"/>
              </a:rPr>
              <a:t>inside</a:t>
            </a:r>
            <a:pPr algn="l" indent="0" marL="0">
              <a:lnSpc>
                <a:spcPts val="2450"/>
              </a:lnSpc>
              <a:buNone/>
            </a:pPr>
            <a:r>
              <a:rPr lang="en-US" sz="1550" dirty="0">
                <a:solidFill>
                  <a:srgbClr val="000000"/>
                </a:solidFill>
                <a:latin typeface="Roboto" pitchFamily="34" charset="0"/>
                <a:ea typeface="Roboto" pitchFamily="34" charset="-122"/>
                <a:cs typeface="Roboto" pitchFamily="34" charset="-120"/>
              </a:rPr>
              <a:t> the liver, we had to layer our masks carefully—drawing the liver first, then superimposing the tumor on top—to ensure the model learned the relationship between the organ and the lesion.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24865"/>
            <a:ext cx="10986373"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Model Architecture: Why Attention U-Net?</a:t>
            </a:r>
            <a:endParaRPr lang="en-US" sz="4450" dirty="0"/>
          </a:p>
        </p:txBody>
      </p:sp>
      <p:sp>
        <p:nvSpPr>
          <p:cNvPr id="3" name="Text 1"/>
          <p:cNvSpPr/>
          <p:nvPr/>
        </p:nvSpPr>
        <p:spPr>
          <a:xfrm>
            <a:off x="793790" y="2100620"/>
            <a:ext cx="3310890"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Baseline: Standard U-Net</a:t>
            </a:r>
            <a:endParaRPr lang="en-US" sz="2200" dirty="0"/>
          </a:p>
        </p:txBody>
      </p:sp>
      <p:sp>
        <p:nvSpPr>
          <p:cNvPr id="4" name="Text 2"/>
          <p:cNvSpPr/>
          <p:nvPr/>
        </p:nvSpPr>
        <p:spPr>
          <a:xfrm>
            <a:off x="793790" y="2681764"/>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Encoder-Decoder structure.</a:t>
            </a:r>
            <a:endParaRPr lang="en-US" sz="1750" dirty="0"/>
          </a:p>
        </p:txBody>
      </p:sp>
      <p:sp>
        <p:nvSpPr>
          <p:cNvPr id="5" name="Text 3"/>
          <p:cNvSpPr/>
          <p:nvPr/>
        </p:nvSpPr>
        <p:spPr>
          <a:xfrm>
            <a:off x="793790" y="32714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The Flaw</a:t>
            </a:r>
            <a:endParaRPr lang="en-US" sz="2200" dirty="0"/>
          </a:p>
        </p:txBody>
      </p:sp>
      <p:sp>
        <p:nvSpPr>
          <p:cNvPr id="6" name="Text 4"/>
          <p:cNvSpPr/>
          <p:nvPr/>
        </p:nvSpPr>
        <p:spPr>
          <a:xfrm>
            <a:off x="793790" y="3852624"/>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Standard U-Net treats all pixels equally, leading to false positives in the dark background areas of ultrasound.</a:t>
            </a:r>
            <a:endParaRPr lang="en-US" sz="1750" dirty="0"/>
          </a:p>
        </p:txBody>
      </p:sp>
      <p:sp>
        <p:nvSpPr>
          <p:cNvPr id="7" name="Text 5"/>
          <p:cNvSpPr/>
          <p:nvPr/>
        </p:nvSpPr>
        <p:spPr>
          <a:xfrm>
            <a:off x="7599521" y="2100620"/>
            <a:ext cx="3787616"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The Solution: Attention Gates</a:t>
            </a:r>
            <a:endParaRPr lang="en-US" sz="2200" dirty="0"/>
          </a:p>
        </p:txBody>
      </p:sp>
      <p:sp>
        <p:nvSpPr>
          <p:cNvPr id="8" name="Text 6"/>
          <p:cNvSpPr/>
          <p:nvPr/>
        </p:nvSpPr>
        <p:spPr>
          <a:xfrm>
            <a:off x="7599521" y="2681764"/>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Integrated </a:t>
            </a:r>
            <a:pPr algn="l" indent="0" marL="0">
              <a:lnSpc>
                <a:spcPts val="2850"/>
              </a:lnSpc>
              <a:buNone/>
            </a:pPr>
            <a:r>
              <a:rPr lang="en-US" sz="1750" b="1" dirty="0">
                <a:solidFill>
                  <a:srgbClr val="3C3939"/>
                </a:solidFill>
                <a:latin typeface="Roboto" pitchFamily="34" charset="0"/>
                <a:ea typeface="Roboto" pitchFamily="34" charset="-122"/>
                <a:cs typeface="Roboto" pitchFamily="34" charset="-120"/>
              </a:rPr>
              <a:t>Attention Gates</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into the skip connections</a:t>
            </a:r>
            <a:endParaRPr lang="en-US" sz="1750" dirty="0"/>
          </a:p>
        </p:txBody>
      </p:sp>
      <p:sp>
        <p:nvSpPr>
          <p:cNvPr id="9" name="Text 7"/>
          <p:cNvSpPr/>
          <p:nvPr/>
        </p:nvSpPr>
        <p:spPr>
          <a:xfrm>
            <a:off x="7599521" y="3123962"/>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Mechanism:</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The model learns to assign "weights" to different regions</a:t>
            </a:r>
            <a:endParaRPr lang="en-US" sz="1750" dirty="0"/>
          </a:p>
        </p:txBody>
      </p:sp>
      <p:sp>
        <p:nvSpPr>
          <p:cNvPr id="10" name="Text 8"/>
          <p:cNvSpPr/>
          <p:nvPr/>
        </p:nvSpPr>
        <p:spPr>
          <a:xfrm>
            <a:off x="7599521" y="3929063"/>
            <a:ext cx="6244709" cy="10887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Result:</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It actively </a:t>
            </a:r>
            <a:pPr algn="l" indent="0" marL="0">
              <a:lnSpc>
                <a:spcPts val="2850"/>
              </a:lnSpc>
              <a:buNone/>
            </a:pPr>
            <a:r>
              <a:rPr lang="en-US" sz="1750" b="1" dirty="0">
                <a:solidFill>
                  <a:srgbClr val="26A688"/>
                </a:solidFill>
                <a:latin typeface="Roboto" pitchFamily="34" charset="0"/>
                <a:ea typeface="Roboto" pitchFamily="34" charset="-122"/>
                <a:cs typeface="Roboto" pitchFamily="34" charset="-120"/>
              </a:rPr>
              <a:t>suppresses</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the irrelevant background and speckle noise, forcing the network to focus only on the organ structures</a:t>
            </a:r>
            <a:endParaRPr lang="en-US" sz="1750" dirty="0"/>
          </a:p>
        </p:txBody>
      </p:sp>
      <p:sp>
        <p:nvSpPr>
          <p:cNvPr id="11" name="Shape 9"/>
          <p:cNvSpPr/>
          <p:nvPr/>
        </p:nvSpPr>
        <p:spPr>
          <a:xfrm>
            <a:off x="793790" y="5352217"/>
            <a:ext cx="13042821" cy="2052518"/>
          </a:xfrm>
          <a:prstGeom prst="roundRect">
            <a:avLst>
              <a:gd name="adj" fmla="val 4642"/>
            </a:avLst>
          </a:prstGeom>
          <a:solidFill>
            <a:srgbClr val="D2D2E0"/>
          </a:solidFill>
          <a:ln/>
        </p:spPr>
      </p:sp>
      <p:pic>
        <p:nvPicPr>
          <p:cNvPr id="12" name="Image 0" descr="preencoded.png">    </p:cNvPr>
          <p:cNvPicPr>
            <a:picLocks noChangeAspect="1"/>
          </p:cNvPicPr>
          <p:nvPr/>
        </p:nvPicPr>
        <p:blipFill>
          <a:blip r:embed="rId1"/>
          <a:stretch>
            <a:fillRect/>
          </a:stretch>
        </p:blipFill>
        <p:spPr>
          <a:xfrm>
            <a:off x="1020604" y="5696307"/>
            <a:ext cx="283488" cy="226814"/>
          </a:xfrm>
          <a:prstGeom prst="rect">
            <a:avLst/>
          </a:prstGeom>
        </p:spPr>
      </p:pic>
      <p:sp>
        <p:nvSpPr>
          <p:cNvPr id="13" name="Text 10"/>
          <p:cNvSpPr/>
          <p:nvPr/>
        </p:nvSpPr>
        <p:spPr>
          <a:xfrm>
            <a:off x="1530906" y="5635704"/>
            <a:ext cx="12078891" cy="1451610"/>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We initially tried a standard U-Net, but it struggled with the noisy background. We upgraded to an Attention U-Net. Think of 'Attention Gates' as a spotlight. Instead of processing the whole image equally, the model learns to dim the lights on irrelevant background noise and shine a spotlight specifically on the liver tissue. This significantly reduced false positives.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7804" y="535781"/>
            <a:ext cx="4744760" cy="471249"/>
          </a:xfrm>
          <a:prstGeom prst="rect">
            <a:avLst/>
          </a:prstGeom>
          <a:noFill/>
          <a:ln/>
        </p:spPr>
        <p:txBody>
          <a:bodyPr wrap="none" lIns="0" tIns="0" rIns="0" bIns="0" rtlCol="0" anchor="t"/>
          <a:lstStyle/>
          <a:p>
            <a:pPr algn="l" indent="0" marL="0">
              <a:lnSpc>
                <a:spcPts val="3700"/>
              </a:lnSpc>
              <a:buNone/>
            </a:pPr>
            <a:r>
              <a:rPr lang="en-US" sz="2950" dirty="0">
                <a:solidFill>
                  <a:srgbClr val="1B1B27"/>
                </a:solidFill>
                <a:latin typeface="Raleway" pitchFamily="34" charset="0"/>
                <a:ea typeface="Raleway" pitchFamily="34" charset="-122"/>
                <a:cs typeface="Raleway" pitchFamily="34" charset="-120"/>
              </a:rPr>
              <a:t>The Loss Function Strategy</a:t>
            </a:r>
            <a:endParaRPr lang="en-US" sz="2950" dirty="0"/>
          </a:p>
        </p:txBody>
      </p:sp>
      <p:sp>
        <p:nvSpPr>
          <p:cNvPr id="3" name="Text 1"/>
          <p:cNvSpPr/>
          <p:nvPr/>
        </p:nvSpPr>
        <p:spPr>
          <a:xfrm>
            <a:off x="527804" y="1067276"/>
            <a:ext cx="3345180" cy="282773"/>
          </a:xfrm>
          <a:prstGeom prst="rect">
            <a:avLst/>
          </a:prstGeom>
          <a:noFill/>
          <a:ln/>
        </p:spPr>
        <p:txBody>
          <a:bodyPr wrap="none" lIns="0" tIns="0" rIns="0" bIns="0" rtlCol="0" anchor="t"/>
          <a:lstStyle/>
          <a:p>
            <a:pPr algn="l" indent="0" marL="0">
              <a:lnSpc>
                <a:spcPts val="2200"/>
              </a:lnSpc>
              <a:buNone/>
            </a:pPr>
            <a:r>
              <a:rPr lang="en-US" sz="1750" dirty="0">
                <a:solidFill>
                  <a:srgbClr val="1B1B27"/>
                </a:solidFill>
                <a:latin typeface="Raleway" pitchFamily="34" charset="0"/>
                <a:ea typeface="Raleway" pitchFamily="34" charset="-122"/>
                <a:cs typeface="Raleway" pitchFamily="34" charset="-120"/>
              </a:rPr>
              <a:t>The Challenge: Class Imbalance</a:t>
            </a:r>
            <a:endParaRPr lang="en-US" sz="1750" dirty="0"/>
          </a:p>
        </p:txBody>
      </p:sp>
      <p:sp>
        <p:nvSpPr>
          <p:cNvPr id="4" name="Text 2"/>
          <p:cNvSpPr/>
          <p:nvPr/>
        </p:nvSpPr>
        <p:spPr>
          <a:xfrm>
            <a:off x="1799868" y="2556272"/>
            <a:ext cx="1854875" cy="376952"/>
          </a:xfrm>
          <a:prstGeom prst="rect">
            <a:avLst/>
          </a:prstGeom>
          <a:noFill/>
          <a:ln/>
        </p:spPr>
        <p:txBody>
          <a:bodyPr wrap="none" lIns="0" tIns="0" rIns="0" bIns="0" rtlCol="0" anchor="t"/>
          <a:lstStyle/>
          <a:p>
            <a:pPr algn="ctr" indent="0" marL="0">
              <a:lnSpc>
                <a:spcPts val="2950"/>
              </a:lnSpc>
              <a:buNone/>
            </a:pPr>
            <a:r>
              <a:rPr lang="en-US" sz="2950" dirty="0">
                <a:solidFill>
                  <a:srgbClr val="3C3939"/>
                </a:solidFill>
                <a:latin typeface="Raleway" pitchFamily="34" charset="0"/>
                <a:ea typeface="Raleway" pitchFamily="34" charset="-122"/>
                <a:cs typeface="Raleway" pitchFamily="34" charset="-120"/>
              </a:rPr>
              <a:t>70%</a:t>
            </a:r>
            <a:endParaRPr lang="en-US" sz="2950" dirty="0"/>
          </a:p>
        </p:txBody>
      </p:sp>
      <p:pic>
        <p:nvPicPr>
          <p:cNvPr id="5" name="Image 0" descr="preencoded.png">    </p:cNvPr>
          <p:cNvPicPr>
            <a:picLocks noChangeAspect="1"/>
          </p:cNvPicPr>
          <p:nvPr/>
        </p:nvPicPr>
        <p:blipFill>
          <a:blip r:embed="rId1"/>
          <a:stretch>
            <a:fillRect/>
          </a:stretch>
        </p:blipFill>
        <p:spPr>
          <a:xfrm>
            <a:off x="1596390" y="1613773"/>
            <a:ext cx="2262068" cy="2262068"/>
          </a:xfrm>
          <a:prstGeom prst="rect">
            <a:avLst/>
          </a:prstGeom>
        </p:spPr>
      </p:pic>
      <p:sp>
        <p:nvSpPr>
          <p:cNvPr id="6" name="Text 3"/>
          <p:cNvSpPr/>
          <p:nvPr/>
        </p:nvSpPr>
        <p:spPr>
          <a:xfrm>
            <a:off x="1784866" y="4064198"/>
            <a:ext cx="1884998" cy="235506"/>
          </a:xfrm>
          <a:prstGeom prst="rect">
            <a:avLst/>
          </a:prstGeom>
          <a:noFill/>
          <a:ln/>
        </p:spPr>
        <p:txBody>
          <a:bodyPr wrap="none" lIns="0" tIns="0" rIns="0" bIns="0" rtlCol="0" anchor="t"/>
          <a:lstStyle/>
          <a:p>
            <a:pPr algn="ctr" indent="0" marL="0">
              <a:lnSpc>
                <a:spcPts val="1850"/>
              </a:lnSpc>
              <a:buNone/>
            </a:pPr>
            <a:r>
              <a:rPr lang="en-US" sz="1450" dirty="0">
                <a:solidFill>
                  <a:srgbClr val="3C3939"/>
                </a:solidFill>
                <a:latin typeface="Raleway" pitchFamily="34" charset="0"/>
                <a:ea typeface="Raleway" pitchFamily="34" charset="-122"/>
                <a:cs typeface="Raleway" pitchFamily="34" charset="-120"/>
              </a:rPr>
              <a:t>Background</a:t>
            </a:r>
            <a:endParaRPr lang="en-US" sz="1450" dirty="0"/>
          </a:p>
        </p:txBody>
      </p:sp>
      <p:sp>
        <p:nvSpPr>
          <p:cNvPr id="7" name="Text 4"/>
          <p:cNvSpPr/>
          <p:nvPr/>
        </p:nvSpPr>
        <p:spPr>
          <a:xfrm>
            <a:off x="6387584" y="2556272"/>
            <a:ext cx="1854875" cy="376952"/>
          </a:xfrm>
          <a:prstGeom prst="rect">
            <a:avLst/>
          </a:prstGeom>
          <a:noFill/>
          <a:ln/>
        </p:spPr>
        <p:txBody>
          <a:bodyPr wrap="none" lIns="0" tIns="0" rIns="0" bIns="0" rtlCol="0" anchor="t"/>
          <a:lstStyle/>
          <a:p>
            <a:pPr algn="ctr" indent="0" marL="0">
              <a:lnSpc>
                <a:spcPts val="2950"/>
              </a:lnSpc>
              <a:buNone/>
            </a:pPr>
            <a:r>
              <a:rPr lang="en-US" sz="2950" dirty="0">
                <a:solidFill>
                  <a:srgbClr val="3C3939"/>
                </a:solidFill>
                <a:latin typeface="Raleway" pitchFamily="34" charset="0"/>
                <a:ea typeface="Raleway" pitchFamily="34" charset="-122"/>
                <a:cs typeface="Raleway" pitchFamily="34" charset="-120"/>
              </a:rPr>
              <a:t>25%</a:t>
            </a:r>
            <a:endParaRPr lang="en-US" sz="2950" dirty="0"/>
          </a:p>
        </p:txBody>
      </p:sp>
      <p:pic>
        <p:nvPicPr>
          <p:cNvPr id="8" name="Image 1" descr="preencoded.png">    </p:cNvPr>
          <p:cNvPicPr>
            <a:picLocks noChangeAspect="1"/>
          </p:cNvPicPr>
          <p:nvPr/>
        </p:nvPicPr>
        <p:blipFill>
          <a:blip r:embed="rId2"/>
          <a:stretch>
            <a:fillRect/>
          </a:stretch>
        </p:blipFill>
        <p:spPr>
          <a:xfrm>
            <a:off x="6184106" y="1613773"/>
            <a:ext cx="2262068" cy="2262068"/>
          </a:xfrm>
          <a:prstGeom prst="rect">
            <a:avLst/>
          </a:prstGeom>
        </p:spPr>
      </p:pic>
      <p:sp>
        <p:nvSpPr>
          <p:cNvPr id="9" name="Text 5"/>
          <p:cNvSpPr/>
          <p:nvPr/>
        </p:nvSpPr>
        <p:spPr>
          <a:xfrm>
            <a:off x="6372582" y="4064198"/>
            <a:ext cx="1884998" cy="235506"/>
          </a:xfrm>
          <a:prstGeom prst="rect">
            <a:avLst/>
          </a:prstGeom>
          <a:noFill/>
          <a:ln/>
        </p:spPr>
        <p:txBody>
          <a:bodyPr wrap="none" lIns="0" tIns="0" rIns="0" bIns="0" rtlCol="0" anchor="t"/>
          <a:lstStyle/>
          <a:p>
            <a:pPr algn="ctr" indent="0" marL="0">
              <a:lnSpc>
                <a:spcPts val="1850"/>
              </a:lnSpc>
              <a:buNone/>
            </a:pPr>
            <a:r>
              <a:rPr lang="en-US" sz="1450" dirty="0">
                <a:solidFill>
                  <a:srgbClr val="3C3939"/>
                </a:solidFill>
                <a:latin typeface="Raleway" pitchFamily="34" charset="0"/>
                <a:ea typeface="Raleway" pitchFamily="34" charset="-122"/>
                <a:cs typeface="Raleway" pitchFamily="34" charset="-120"/>
              </a:rPr>
              <a:t>Liver</a:t>
            </a:r>
            <a:endParaRPr lang="en-US" sz="1450" dirty="0"/>
          </a:p>
        </p:txBody>
      </p:sp>
      <p:sp>
        <p:nvSpPr>
          <p:cNvPr id="10" name="Text 6"/>
          <p:cNvSpPr/>
          <p:nvPr/>
        </p:nvSpPr>
        <p:spPr>
          <a:xfrm>
            <a:off x="10975300" y="2556272"/>
            <a:ext cx="1854875" cy="376952"/>
          </a:xfrm>
          <a:prstGeom prst="rect">
            <a:avLst/>
          </a:prstGeom>
          <a:noFill/>
          <a:ln/>
        </p:spPr>
        <p:txBody>
          <a:bodyPr wrap="none" lIns="0" tIns="0" rIns="0" bIns="0" rtlCol="0" anchor="t"/>
          <a:lstStyle/>
          <a:p>
            <a:pPr algn="ctr" indent="0" marL="0">
              <a:lnSpc>
                <a:spcPts val="2950"/>
              </a:lnSpc>
              <a:buNone/>
            </a:pPr>
            <a:r>
              <a:rPr lang="en-US" sz="2950" dirty="0">
                <a:solidFill>
                  <a:srgbClr val="3C3939"/>
                </a:solidFill>
                <a:latin typeface="Raleway" pitchFamily="34" charset="0"/>
                <a:ea typeface="Raleway" pitchFamily="34" charset="-122"/>
                <a:cs typeface="Raleway" pitchFamily="34" charset="-120"/>
              </a:rPr>
              <a:t>5%</a:t>
            </a:r>
            <a:endParaRPr lang="en-US" sz="2950" dirty="0"/>
          </a:p>
        </p:txBody>
      </p:sp>
      <p:pic>
        <p:nvPicPr>
          <p:cNvPr id="11" name="Image 2" descr="preencoded.png">    </p:cNvPr>
          <p:cNvPicPr>
            <a:picLocks noChangeAspect="1"/>
          </p:cNvPicPr>
          <p:nvPr/>
        </p:nvPicPr>
        <p:blipFill>
          <a:blip r:embed="rId3"/>
          <a:stretch>
            <a:fillRect/>
          </a:stretch>
        </p:blipFill>
        <p:spPr>
          <a:xfrm>
            <a:off x="10771823" y="1613773"/>
            <a:ext cx="2262068" cy="2262068"/>
          </a:xfrm>
          <a:prstGeom prst="rect">
            <a:avLst/>
          </a:prstGeom>
        </p:spPr>
      </p:pic>
      <p:sp>
        <p:nvSpPr>
          <p:cNvPr id="12" name="Text 7"/>
          <p:cNvSpPr/>
          <p:nvPr/>
        </p:nvSpPr>
        <p:spPr>
          <a:xfrm>
            <a:off x="10960418" y="4064198"/>
            <a:ext cx="1884998" cy="235506"/>
          </a:xfrm>
          <a:prstGeom prst="rect">
            <a:avLst/>
          </a:prstGeom>
          <a:noFill/>
          <a:ln/>
        </p:spPr>
        <p:txBody>
          <a:bodyPr wrap="none" lIns="0" tIns="0" rIns="0" bIns="0" rtlCol="0" anchor="t"/>
          <a:lstStyle/>
          <a:p>
            <a:pPr algn="ctr" indent="0" marL="0">
              <a:lnSpc>
                <a:spcPts val="1850"/>
              </a:lnSpc>
              <a:buNone/>
            </a:pPr>
            <a:r>
              <a:rPr lang="en-US" sz="1450" dirty="0">
                <a:solidFill>
                  <a:srgbClr val="3C3939"/>
                </a:solidFill>
                <a:latin typeface="Raleway" pitchFamily="34" charset="0"/>
                <a:ea typeface="Raleway" pitchFamily="34" charset="-122"/>
                <a:cs typeface="Raleway" pitchFamily="34" charset="-120"/>
              </a:rPr>
              <a:t>Mass (Very small!)</a:t>
            </a:r>
            <a:endParaRPr lang="en-US" sz="1450" dirty="0"/>
          </a:p>
        </p:txBody>
      </p:sp>
      <p:sp>
        <p:nvSpPr>
          <p:cNvPr id="13" name="Text 8"/>
          <p:cNvSpPr/>
          <p:nvPr/>
        </p:nvSpPr>
        <p:spPr>
          <a:xfrm>
            <a:off x="527804" y="4525804"/>
            <a:ext cx="3642241" cy="282773"/>
          </a:xfrm>
          <a:prstGeom prst="rect">
            <a:avLst/>
          </a:prstGeom>
          <a:noFill/>
          <a:ln/>
        </p:spPr>
        <p:txBody>
          <a:bodyPr wrap="none" lIns="0" tIns="0" rIns="0" bIns="0" rtlCol="0" anchor="t"/>
          <a:lstStyle/>
          <a:p>
            <a:pPr algn="l" indent="0" marL="0">
              <a:lnSpc>
                <a:spcPts val="2200"/>
              </a:lnSpc>
              <a:buNone/>
            </a:pPr>
            <a:r>
              <a:rPr lang="en-US" sz="1750" dirty="0">
                <a:solidFill>
                  <a:srgbClr val="1B1B27"/>
                </a:solidFill>
                <a:latin typeface="Raleway" pitchFamily="34" charset="0"/>
                <a:ea typeface="Raleway" pitchFamily="34" charset="-122"/>
                <a:cs typeface="Raleway" pitchFamily="34" charset="-120"/>
              </a:rPr>
              <a:t>Solution: Compound Loss Function</a:t>
            </a:r>
            <a:endParaRPr lang="en-US" sz="1750" dirty="0"/>
          </a:p>
        </p:txBody>
      </p:sp>
      <p:sp>
        <p:nvSpPr>
          <p:cNvPr id="14" name="Text 9"/>
          <p:cNvSpPr/>
          <p:nvPr/>
        </p:nvSpPr>
        <p:spPr>
          <a:xfrm>
            <a:off x="527804" y="5034677"/>
            <a:ext cx="13574792" cy="261461"/>
          </a:xfrm>
          <a:prstGeom prst="rect">
            <a:avLst/>
          </a:prstGeom>
          <a:noFill/>
          <a:ln/>
        </p:spPr>
        <p:txBody>
          <a:bodyPr wrap="none" lIns="0" tIns="0" rIns="0" bIns="0" rtlCol="0" anchor="t"/>
          <a:lstStyle/>
          <a:p>
            <a:pPr algn="l" indent="0" marL="0">
              <a:lnSpc>
                <a:spcPts val="2100"/>
              </a:lnSpc>
              <a:buNone/>
            </a:pPr>
            <a:endParaRPr lang="en-US" sz="1300" dirty="0"/>
          </a:p>
        </p:txBody>
      </p:sp>
      <p:pic>
        <p:nvPicPr>
          <p:cNvPr id="15" name="Image 3" descr="preencoded.png">    </p:cNvPr>
          <p:cNvPicPr>
            <a:picLocks noChangeAspect="1"/>
          </p:cNvPicPr>
          <p:nvPr/>
        </p:nvPicPr>
        <p:blipFill>
          <a:blip r:embed="rId4"/>
          <a:stretch>
            <a:fillRect/>
          </a:stretch>
        </p:blipFill>
        <p:spPr>
          <a:xfrm>
            <a:off x="527804" y="5034677"/>
            <a:ext cx="13574792" cy="261461"/>
          </a:xfrm>
          <a:prstGeom prst="rect">
            <a:avLst/>
          </a:prstGeom>
        </p:spPr>
      </p:pic>
      <p:sp>
        <p:nvSpPr>
          <p:cNvPr id="16" name="Text 10"/>
          <p:cNvSpPr/>
          <p:nvPr/>
        </p:nvSpPr>
        <p:spPr>
          <a:xfrm>
            <a:off x="527804" y="5637728"/>
            <a:ext cx="1884998" cy="235506"/>
          </a:xfrm>
          <a:prstGeom prst="rect">
            <a:avLst/>
          </a:prstGeom>
          <a:noFill/>
          <a:ln/>
        </p:spPr>
        <p:txBody>
          <a:bodyPr wrap="none" lIns="0" tIns="0" rIns="0" bIns="0" rtlCol="0" anchor="t"/>
          <a:lstStyle/>
          <a:p>
            <a:pPr algn="l" indent="0" marL="0">
              <a:lnSpc>
                <a:spcPts val="1850"/>
              </a:lnSpc>
              <a:buNone/>
            </a:pPr>
            <a:r>
              <a:rPr lang="en-US" sz="1450" dirty="0">
                <a:solidFill>
                  <a:srgbClr val="1B1B27"/>
                </a:solidFill>
                <a:latin typeface="Raleway" pitchFamily="34" charset="0"/>
                <a:ea typeface="Raleway" pitchFamily="34" charset="-122"/>
                <a:cs typeface="Raleway" pitchFamily="34" charset="-120"/>
              </a:rPr>
              <a:t>Cross Entropy</a:t>
            </a:r>
            <a:endParaRPr lang="en-US" sz="1450" dirty="0"/>
          </a:p>
        </p:txBody>
      </p:sp>
      <p:sp>
        <p:nvSpPr>
          <p:cNvPr id="17" name="Text 11"/>
          <p:cNvSpPr/>
          <p:nvPr/>
        </p:nvSpPr>
        <p:spPr>
          <a:xfrm>
            <a:off x="527804" y="6023967"/>
            <a:ext cx="6603444" cy="241340"/>
          </a:xfrm>
          <a:prstGeom prst="rect">
            <a:avLst/>
          </a:prstGeom>
          <a:noFill/>
          <a:ln/>
        </p:spPr>
        <p:txBody>
          <a:bodyPr wrap="non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Good for overall pixel-level classification accuracy.</a:t>
            </a:r>
            <a:endParaRPr lang="en-US" sz="1150" dirty="0"/>
          </a:p>
        </p:txBody>
      </p:sp>
      <p:sp>
        <p:nvSpPr>
          <p:cNvPr id="18" name="Text 12"/>
          <p:cNvSpPr/>
          <p:nvPr/>
        </p:nvSpPr>
        <p:spPr>
          <a:xfrm>
            <a:off x="7506772" y="5637728"/>
            <a:ext cx="1884998" cy="235506"/>
          </a:xfrm>
          <a:prstGeom prst="rect">
            <a:avLst/>
          </a:prstGeom>
          <a:noFill/>
          <a:ln/>
        </p:spPr>
        <p:txBody>
          <a:bodyPr wrap="none" lIns="0" tIns="0" rIns="0" bIns="0" rtlCol="0" anchor="t"/>
          <a:lstStyle/>
          <a:p>
            <a:pPr algn="l" indent="0" marL="0">
              <a:lnSpc>
                <a:spcPts val="1850"/>
              </a:lnSpc>
              <a:buNone/>
            </a:pPr>
            <a:r>
              <a:rPr lang="en-US" sz="1450" dirty="0">
                <a:solidFill>
                  <a:srgbClr val="1B1B27"/>
                </a:solidFill>
                <a:latin typeface="Raleway" pitchFamily="34" charset="0"/>
                <a:ea typeface="Raleway" pitchFamily="34" charset="-122"/>
                <a:cs typeface="Raleway" pitchFamily="34" charset="-120"/>
              </a:rPr>
              <a:t>Dice Loss</a:t>
            </a:r>
            <a:endParaRPr lang="en-US" sz="1450" dirty="0"/>
          </a:p>
        </p:txBody>
      </p:sp>
      <p:sp>
        <p:nvSpPr>
          <p:cNvPr id="19" name="Text 13"/>
          <p:cNvSpPr/>
          <p:nvPr/>
        </p:nvSpPr>
        <p:spPr>
          <a:xfrm>
            <a:off x="7506772" y="6023967"/>
            <a:ext cx="6603444" cy="482679"/>
          </a:xfrm>
          <a:prstGeom prst="rect">
            <a:avLst/>
          </a:prstGeom>
          <a:noFill/>
          <a:ln/>
        </p:spPr>
        <p:txBody>
          <a:bodyPr wrap="square" lIns="0" tIns="0" rIns="0" bIns="0" rtlCol="0" anchor="t"/>
          <a:lstStyle/>
          <a:p>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Directly optimizes the </a:t>
            </a:r>
            <a:pPr algn="l" indent="0" marL="0">
              <a:lnSpc>
                <a:spcPts val="1850"/>
              </a:lnSpc>
              <a:buNone/>
            </a:pPr>
            <a:r>
              <a:rPr lang="en-US" sz="1150" b="1" dirty="0">
                <a:solidFill>
                  <a:srgbClr val="3C3939"/>
                </a:solidFill>
                <a:latin typeface="Roboto" pitchFamily="34" charset="0"/>
                <a:ea typeface="Roboto" pitchFamily="34" charset="-122"/>
                <a:cs typeface="Roboto" pitchFamily="34" charset="-120"/>
              </a:rPr>
              <a:t>IoU (Intersection over Union)</a:t>
            </a:r>
            <a:pPr algn="l" indent="0" marL="0">
              <a:lnSpc>
                <a:spcPts val="1850"/>
              </a:lnSpc>
              <a:buNone/>
            </a:pPr>
            <a:r>
              <a:rPr lang="en-US" sz="1150" dirty="0">
                <a:solidFill>
                  <a:srgbClr val="3C3939"/>
                </a:solidFill>
                <a:latin typeface="Roboto" pitchFamily="34" charset="0"/>
                <a:ea typeface="Roboto" pitchFamily="34" charset="-122"/>
                <a:cs typeface="Roboto" pitchFamily="34" charset="-120"/>
              </a:rPr>
              <a:t>, ensuring the model doesn't ignore the small "Mass" class.</a:t>
            </a:r>
            <a:endParaRPr lang="en-US" sz="1150" dirty="0"/>
          </a:p>
        </p:txBody>
      </p:sp>
      <p:sp>
        <p:nvSpPr>
          <p:cNvPr id="20" name="Shape 14"/>
          <p:cNvSpPr/>
          <p:nvPr/>
        </p:nvSpPr>
        <p:spPr>
          <a:xfrm>
            <a:off x="527804" y="6811804"/>
            <a:ext cx="13574792" cy="882015"/>
          </a:xfrm>
          <a:prstGeom prst="roundRect">
            <a:avLst>
              <a:gd name="adj" fmla="val 7181"/>
            </a:avLst>
          </a:prstGeom>
          <a:solidFill>
            <a:srgbClr val="D2D2E0"/>
          </a:solidFill>
          <a:ln/>
        </p:spPr>
      </p:sp>
      <p:pic>
        <p:nvPicPr>
          <p:cNvPr id="21" name="Image 4" descr="preencoded.png">    </p:cNvPr>
          <p:cNvPicPr>
            <a:picLocks noChangeAspect="1"/>
          </p:cNvPicPr>
          <p:nvPr/>
        </p:nvPicPr>
        <p:blipFill>
          <a:blip r:embed="rId5"/>
          <a:stretch>
            <a:fillRect/>
          </a:stretch>
        </p:blipFill>
        <p:spPr>
          <a:xfrm>
            <a:off x="678537" y="7035879"/>
            <a:ext cx="188476" cy="150733"/>
          </a:xfrm>
          <a:prstGeom prst="rect">
            <a:avLst/>
          </a:prstGeom>
        </p:spPr>
      </p:pic>
      <p:sp>
        <p:nvSpPr>
          <p:cNvPr id="22" name="Text 15"/>
          <p:cNvSpPr/>
          <p:nvPr/>
        </p:nvSpPr>
        <p:spPr>
          <a:xfrm>
            <a:off x="1017746" y="7000161"/>
            <a:ext cx="12934117" cy="482679"/>
          </a:xfrm>
          <a:prstGeom prst="rect">
            <a:avLst/>
          </a:prstGeom>
          <a:noFill/>
          <a:ln/>
        </p:spPr>
        <p:txBody>
          <a:bodyPr wrap="square" lIns="0" tIns="0" rIns="0" bIns="0" rtlCol="0" anchor="t"/>
          <a:lstStyle/>
          <a:p>
            <a:pPr algn="l" indent="0" marL="0">
              <a:lnSpc>
                <a:spcPts val="1850"/>
              </a:lnSpc>
              <a:buNone/>
            </a:pPr>
            <a:r>
              <a:rPr lang="en-US" sz="1150" dirty="0">
                <a:solidFill>
                  <a:srgbClr val="000000"/>
                </a:solidFill>
                <a:latin typeface="Roboto" pitchFamily="34" charset="0"/>
                <a:ea typeface="Roboto" pitchFamily="34" charset="-122"/>
                <a:cs typeface="Roboto" pitchFamily="34" charset="-120"/>
              </a:rPr>
              <a:t>A major issue in medical AI is that tumors are tiny compared to the rest of the image. If a model just guessed 'Background' for everything, it would still be 95% accurate but useless. We used a 'Compound Loss' combining Cross Entropy and Dice Loss. Dice Loss specifically penalizes the model heavily if it misses the shape of those small tumors, forcing it to learn them.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4023" y="592455"/>
            <a:ext cx="5386388" cy="673298"/>
          </a:xfrm>
          <a:prstGeom prst="rect">
            <a:avLst/>
          </a:prstGeom>
          <a:noFill/>
          <a:ln/>
        </p:spPr>
        <p:txBody>
          <a:bodyPr wrap="none" lIns="0" tIns="0" rIns="0" bIns="0" rtlCol="0" anchor="t"/>
          <a:lstStyle/>
          <a:p>
            <a:pPr algn="l" indent="0" marL="0">
              <a:lnSpc>
                <a:spcPts val="5300"/>
              </a:lnSpc>
              <a:buNone/>
            </a:pPr>
            <a:r>
              <a:rPr lang="en-US" sz="4200" dirty="0">
                <a:solidFill>
                  <a:srgbClr val="1B1B27"/>
                </a:solidFill>
                <a:latin typeface="Raleway" pitchFamily="34" charset="0"/>
                <a:ea typeface="Raleway" pitchFamily="34" charset="-122"/>
                <a:cs typeface="Raleway" pitchFamily="34" charset="-120"/>
              </a:rPr>
              <a:t>Experimental Results</a:t>
            </a:r>
            <a:endParaRPr lang="en-US" sz="4200" dirty="0"/>
          </a:p>
        </p:txBody>
      </p:sp>
      <p:sp>
        <p:nvSpPr>
          <p:cNvPr id="3" name="Text 1"/>
          <p:cNvSpPr/>
          <p:nvPr/>
        </p:nvSpPr>
        <p:spPr>
          <a:xfrm>
            <a:off x="754023" y="1351836"/>
            <a:ext cx="3231833" cy="403860"/>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Training Setup:</a:t>
            </a:r>
            <a:endParaRPr lang="en-US" sz="2500" dirty="0"/>
          </a:p>
        </p:txBody>
      </p:sp>
      <p:sp>
        <p:nvSpPr>
          <p:cNvPr id="4" name="Text 2"/>
          <p:cNvSpPr/>
          <p:nvPr/>
        </p:nvSpPr>
        <p:spPr>
          <a:xfrm>
            <a:off x="754023" y="2078831"/>
            <a:ext cx="13122354" cy="344805"/>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3C3939"/>
                </a:solidFill>
                <a:latin typeface="Roboto" pitchFamily="34" charset="0"/>
                <a:ea typeface="Roboto" pitchFamily="34" charset="-122"/>
                <a:cs typeface="Roboto" pitchFamily="34" charset="-120"/>
              </a:rPr>
              <a:t>Epochs:</a:t>
            </a:r>
            <a:pPr algn="l" indent="0" marL="0">
              <a:lnSpc>
                <a:spcPts val="2700"/>
              </a:lnSpc>
              <a:buNone/>
            </a:pPr>
            <a:r>
              <a:rPr lang="en-US" sz="1650" dirty="0">
                <a:solidFill>
                  <a:srgbClr val="3C3939"/>
                </a:solidFill>
                <a:latin typeface="Roboto" pitchFamily="34" charset="0"/>
                <a:ea typeface="Roboto" pitchFamily="34" charset="-122"/>
                <a:cs typeface="Roboto" pitchFamily="34" charset="-120"/>
              </a:rPr>
              <a:t> 100</a:t>
            </a:r>
            <a:endParaRPr lang="en-US" sz="1650" dirty="0"/>
          </a:p>
        </p:txBody>
      </p:sp>
      <p:sp>
        <p:nvSpPr>
          <p:cNvPr id="5" name="Text 3"/>
          <p:cNvSpPr/>
          <p:nvPr/>
        </p:nvSpPr>
        <p:spPr>
          <a:xfrm>
            <a:off x="754023" y="2499003"/>
            <a:ext cx="13122354" cy="344805"/>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3C3939"/>
                </a:solidFill>
                <a:latin typeface="Roboto" pitchFamily="34" charset="0"/>
                <a:ea typeface="Roboto" pitchFamily="34" charset="-122"/>
                <a:cs typeface="Roboto" pitchFamily="34" charset="-120"/>
              </a:rPr>
              <a:t>Augmentation:</a:t>
            </a:r>
            <a:pPr algn="l" indent="0" marL="0">
              <a:lnSpc>
                <a:spcPts val="2700"/>
              </a:lnSpc>
              <a:buNone/>
            </a:pPr>
            <a:r>
              <a:rPr lang="en-US" sz="1650" dirty="0">
                <a:solidFill>
                  <a:srgbClr val="3C3939"/>
                </a:solidFill>
                <a:latin typeface="Roboto" pitchFamily="34" charset="0"/>
                <a:ea typeface="Roboto" pitchFamily="34" charset="-122"/>
                <a:cs typeface="Roboto" pitchFamily="34" charset="-120"/>
              </a:rPr>
              <a:t> Albumentations (Rotation, Flip) to simulate different probe angles</a:t>
            </a:r>
            <a:endParaRPr lang="en-US" sz="1650" dirty="0"/>
          </a:p>
        </p:txBody>
      </p:sp>
      <p:sp>
        <p:nvSpPr>
          <p:cNvPr id="6" name="Text 4"/>
          <p:cNvSpPr/>
          <p:nvPr/>
        </p:nvSpPr>
        <p:spPr>
          <a:xfrm>
            <a:off x="754023" y="3166943"/>
            <a:ext cx="3231833" cy="403860"/>
          </a:xfrm>
          <a:prstGeom prst="rect">
            <a:avLst/>
          </a:prstGeom>
          <a:noFill/>
          <a:ln/>
        </p:spPr>
        <p:txBody>
          <a:bodyPr wrap="none" lIns="0" tIns="0" rIns="0" bIns="0" rtlCol="0" anchor="t"/>
          <a:lstStyle/>
          <a:p>
            <a:pPr algn="l" indent="0" marL="0">
              <a:lnSpc>
                <a:spcPts val="3150"/>
              </a:lnSpc>
              <a:buNone/>
            </a:pPr>
            <a:r>
              <a:rPr lang="en-US" sz="2500" dirty="0">
                <a:solidFill>
                  <a:srgbClr val="1B1B27"/>
                </a:solidFill>
                <a:latin typeface="Raleway" pitchFamily="34" charset="0"/>
                <a:ea typeface="Raleway" pitchFamily="34" charset="-122"/>
                <a:cs typeface="Raleway" pitchFamily="34" charset="-120"/>
              </a:rPr>
              <a:t>Quantitative Metrics:</a:t>
            </a:r>
            <a:endParaRPr lang="en-US" sz="2500" dirty="0"/>
          </a:p>
        </p:txBody>
      </p:sp>
      <p:sp>
        <p:nvSpPr>
          <p:cNvPr id="7" name="Text 5"/>
          <p:cNvSpPr/>
          <p:nvPr/>
        </p:nvSpPr>
        <p:spPr>
          <a:xfrm>
            <a:off x="754023" y="4001572"/>
            <a:ext cx="4194572" cy="710922"/>
          </a:xfrm>
          <a:prstGeom prst="rect">
            <a:avLst/>
          </a:prstGeom>
          <a:noFill/>
          <a:ln/>
        </p:spPr>
        <p:txBody>
          <a:bodyPr wrap="none" lIns="0" tIns="0" rIns="0" bIns="0" rtlCol="0" anchor="t"/>
          <a:lstStyle/>
          <a:p>
            <a:pPr algn="ctr" indent="0" marL="0">
              <a:lnSpc>
                <a:spcPts val="5550"/>
              </a:lnSpc>
              <a:buNone/>
            </a:pPr>
            <a:r>
              <a:rPr lang="en-US" sz="5550" dirty="0">
                <a:solidFill>
                  <a:srgbClr val="3C3939"/>
                </a:solidFill>
                <a:latin typeface="Raleway" pitchFamily="34" charset="0"/>
                <a:ea typeface="Raleway" pitchFamily="34" charset="-122"/>
                <a:cs typeface="Raleway" pitchFamily="34" charset="-120"/>
              </a:rPr>
              <a:t>0.7286</a:t>
            </a:r>
            <a:endParaRPr lang="en-US" sz="5550" dirty="0"/>
          </a:p>
        </p:txBody>
      </p:sp>
      <p:sp>
        <p:nvSpPr>
          <p:cNvPr id="8" name="Text 6"/>
          <p:cNvSpPr/>
          <p:nvPr/>
        </p:nvSpPr>
        <p:spPr>
          <a:xfrm>
            <a:off x="864394" y="4981694"/>
            <a:ext cx="3973711" cy="336590"/>
          </a:xfrm>
          <a:prstGeom prst="rect">
            <a:avLst/>
          </a:prstGeom>
          <a:noFill/>
          <a:ln/>
        </p:spPr>
        <p:txBody>
          <a:bodyPr wrap="none" lIns="0" tIns="0" rIns="0" bIns="0" rtlCol="0" anchor="t"/>
          <a:lstStyle/>
          <a:p>
            <a:pPr algn="ctr" indent="0" marL="0">
              <a:lnSpc>
                <a:spcPts val="2650"/>
              </a:lnSpc>
              <a:buNone/>
            </a:pPr>
            <a:r>
              <a:rPr lang="en-US" sz="2100" dirty="0">
                <a:solidFill>
                  <a:srgbClr val="3C3939"/>
                </a:solidFill>
                <a:latin typeface="Raleway" pitchFamily="34" charset="0"/>
                <a:ea typeface="Raleway" pitchFamily="34" charset="-122"/>
                <a:cs typeface="Raleway" pitchFamily="34" charset="-120"/>
              </a:rPr>
              <a:t>Average Foreground Dice Score</a:t>
            </a:r>
            <a:endParaRPr lang="en-US" sz="2100" dirty="0"/>
          </a:p>
        </p:txBody>
      </p:sp>
      <p:sp>
        <p:nvSpPr>
          <p:cNvPr id="9" name="Text 7"/>
          <p:cNvSpPr/>
          <p:nvPr/>
        </p:nvSpPr>
        <p:spPr>
          <a:xfrm>
            <a:off x="5217914" y="4001572"/>
            <a:ext cx="4194572" cy="710922"/>
          </a:xfrm>
          <a:prstGeom prst="rect">
            <a:avLst/>
          </a:prstGeom>
          <a:noFill/>
          <a:ln/>
        </p:spPr>
        <p:txBody>
          <a:bodyPr wrap="none" lIns="0" tIns="0" rIns="0" bIns="0" rtlCol="0" anchor="t"/>
          <a:lstStyle/>
          <a:p>
            <a:pPr algn="ctr" indent="0" marL="0">
              <a:lnSpc>
                <a:spcPts val="5550"/>
              </a:lnSpc>
              <a:buNone/>
            </a:pPr>
            <a:r>
              <a:rPr lang="en-US" sz="5550" dirty="0">
                <a:solidFill>
                  <a:srgbClr val="3C3939"/>
                </a:solidFill>
                <a:latin typeface="Raleway" pitchFamily="34" charset="0"/>
                <a:ea typeface="Raleway" pitchFamily="34" charset="-122"/>
                <a:cs typeface="Raleway" pitchFamily="34" charset="-120"/>
              </a:rPr>
              <a:t>0.8340</a:t>
            </a:r>
            <a:endParaRPr lang="en-US" sz="5550" dirty="0"/>
          </a:p>
        </p:txBody>
      </p:sp>
      <p:sp>
        <p:nvSpPr>
          <p:cNvPr id="10" name="Text 8"/>
          <p:cNvSpPr/>
          <p:nvPr/>
        </p:nvSpPr>
        <p:spPr>
          <a:xfrm>
            <a:off x="5793105" y="4981694"/>
            <a:ext cx="3044190" cy="336590"/>
          </a:xfrm>
          <a:prstGeom prst="rect">
            <a:avLst/>
          </a:prstGeom>
          <a:noFill/>
          <a:ln/>
        </p:spPr>
        <p:txBody>
          <a:bodyPr wrap="none" lIns="0" tIns="0" rIns="0" bIns="0" rtlCol="0" anchor="t"/>
          <a:lstStyle/>
          <a:p>
            <a:pPr algn="ctr" indent="0" marL="0">
              <a:lnSpc>
                <a:spcPts val="2650"/>
              </a:lnSpc>
              <a:buNone/>
            </a:pPr>
            <a:r>
              <a:rPr lang="en-US" sz="2100" dirty="0">
                <a:solidFill>
                  <a:srgbClr val="3C3939"/>
                </a:solidFill>
                <a:latin typeface="Raleway" pitchFamily="34" charset="0"/>
                <a:ea typeface="Raleway" pitchFamily="34" charset="-122"/>
                <a:cs typeface="Raleway" pitchFamily="34" charset="-120"/>
              </a:rPr>
              <a:t>Liver Segmentation Dice</a:t>
            </a:r>
            <a:endParaRPr lang="en-US" sz="2100" dirty="0"/>
          </a:p>
        </p:txBody>
      </p:sp>
      <p:sp>
        <p:nvSpPr>
          <p:cNvPr id="11" name="Text 9"/>
          <p:cNvSpPr/>
          <p:nvPr/>
        </p:nvSpPr>
        <p:spPr>
          <a:xfrm>
            <a:off x="5217914" y="5447467"/>
            <a:ext cx="4194572" cy="344805"/>
          </a:xfrm>
          <a:prstGeom prst="rect">
            <a:avLst/>
          </a:prstGeom>
          <a:noFill/>
          <a:ln/>
        </p:spPr>
        <p:txBody>
          <a:bodyPr wrap="none" lIns="0" tIns="0" rIns="0" bIns="0" rtlCol="0" anchor="t"/>
          <a:lstStyle/>
          <a:p>
            <a:pPr algn="ctr" indent="0" marL="0">
              <a:lnSpc>
                <a:spcPts val="2700"/>
              </a:lnSpc>
              <a:buNone/>
            </a:pPr>
            <a:r>
              <a:rPr lang="en-US" sz="1650" dirty="0">
                <a:solidFill>
                  <a:srgbClr val="3C3939"/>
                </a:solidFill>
                <a:latin typeface="Roboto" pitchFamily="34" charset="0"/>
                <a:ea typeface="Roboto" pitchFamily="34" charset="-122"/>
                <a:cs typeface="Roboto" pitchFamily="34" charset="-120"/>
              </a:rPr>
              <a:t>High accuracy</a:t>
            </a:r>
            <a:endParaRPr lang="en-US" sz="1650" dirty="0"/>
          </a:p>
        </p:txBody>
      </p:sp>
      <p:sp>
        <p:nvSpPr>
          <p:cNvPr id="12" name="Text 10"/>
          <p:cNvSpPr/>
          <p:nvPr/>
        </p:nvSpPr>
        <p:spPr>
          <a:xfrm>
            <a:off x="9681805" y="4001572"/>
            <a:ext cx="4194572" cy="710922"/>
          </a:xfrm>
          <a:prstGeom prst="rect">
            <a:avLst/>
          </a:prstGeom>
          <a:noFill/>
          <a:ln/>
        </p:spPr>
        <p:txBody>
          <a:bodyPr wrap="none" lIns="0" tIns="0" rIns="0" bIns="0" rtlCol="0" anchor="t"/>
          <a:lstStyle/>
          <a:p>
            <a:pPr algn="ctr" indent="0" marL="0">
              <a:lnSpc>
                <a:spcPts val="5550"/>
              </a:lnSpc>
              <a:buNone/>
            </a:pPr>
            <a:r>
              <a:rPr lang="en-US" sz="5550" dirty="0">
                <a:solidFill>
                  <a:srgbClr val="3C3939"/>
                </a:solidFill>
                <a:latin typeface="Raleway" pitchFamily="34" charset="0"/>
                <a:ea typeface="Raleway" pitchFamily="34" charset="-122"/>
                <a:cs typeface="Raleway" pitchFamily="34" charset="-120"/>
              </a:rPr>
              <a:t>0.6231</a:t>
            </a:r>
            <a:endParaRPr lang="en-US" sz="5550" dirty="0"/>
          </a:p>
        </p:txBody>
      </p:sp>
      <p:sp>
        <p:nvSpPr>
          <p:cNvPr id="13" name="Text 11"/>
          <p:cNvSpPr/>
          <p:nvPr/>
        </p:nvSpPr>
        <p:spPr>
          <a:xfrm>
            <a:off x="10236518" y="4981694"/>
            <a:ext cx="3085147" cy="336590"/>
          </a:xfrm>
          <a:prstGeom prst="rect">
            <a:avLst/>
          </a:prstGeom>
          <a:noFill/>
          <a:ln/>
        </p:spPr>
        <p:txBody>
          <a:bodyPr wrap="none" lIns="0" tIns="0" rIns="0" bIns="0" rtlCol="0" anchor="t"/>
          <a:lstStyle/>
          <a:p>
            <a:pPr algn="ctr" indent="0" marL="0">
              <a:lnSpc>
                <a:spcPts val="2650"/>
              </a:lnSpc>
              <a:buNone/>
            </a:pPr>
            <a:r>
              <a:rPr lang="en-US" sz="2100" dirty="0">
                <a:solidFill>
                  <a:srgbClr val="3C3939"/>
                </a:solidFill>
                <a:latin typeface="Raleway" pitchFamily="34" charset="0"/>
                <a:ea typeface="Raleway" pitchFamily="34" charset="-122"/>
                <a:cs typeface="Raleway" pitchFamily="34" charset="-120"/>
              </a:rPr>
              <a:t>Mass Segmentation Dice</a:t>
            </a:r>
            <a:endParaRPr lang="en-US" sz="2100" dirty="0"/>
          </a:p>
        </p:txBody>
      </p:sp>
      <p:sp>
        <p:nvSpPr>
          <p:cNvPr id="14" name="Text 12"/>
          <p:cNvSpPr/>
          <p:nvPr/>
        </p:nvSpPr>
        <p:spPr>
          <a:xfrm>
            <a:off x="9681805" y="5447467"/>
            <a:ext cx="4194572" cy="344805"/>
          </a:xfrm>
          <a:prstGeom prst="rect">
            <a:avLst/>
          </a:prstGeom>
          <a:noFill/>
          <a:ln/>
        </p:spPr>
        <p:txBody>
          <a:bodyPr wrap="none" lIns="0" tIns="0" rIns="0" bIns="0" rtlCol="0" anchor="t"/>
          <a:lstStyle/>
          <a:p>
            <a:pPr algn="ctr" indent="0" marL="0">
              <a:lnSpc>
                <a:spcPts val="2700"/>
              </a:lnSpc>
              <a:buNone/>
            </a:pPr>
            <a:r>
              <a:rPr lang="en-US" sz="1650" dirty="0">
                <a:solidFill>
                  <a:srgbClr val="3C3939"/>
                </a:solidFill>
                <a:latin typeface="Roboto" pitchFamily="34" charset="0"/>
                <a:ea typeface="Roboto" pitchFamily="34" charset="-122"/>
                <a:cs typeface="Roboto" pitchFamily="34" charset="-120"/>
              </a:rPr>
              <a:t>Strong baseline for ultrasound</a:t>
            </a:r>
            <a:endParaRPr lang="en-US" sz="1650" dirty="0"/>
          </a:p>
        </p:txBody>
      </p:sp>
      <p:sp>
        <p:nvSpPr>
          <p:cNvPr id="15" name="Shape 13"/>
          <p:cNvSpPr/>
          <p:nvPr/>
        </p:nvSpPr>
        <p:spPr>
          <a:xfrm>
            <a:off x="754023" y="6034564"/>
            <a:ext cx="13122354" cy="1605082"/>
          </a:xfrm>
          <a:prstGeom prst="roundRect">
            <a:avLst>
              <a:gd name="adj" fmla="val 5638"/>
            </a:avLst>
          </a:prstGeom>
          <a:solidFill>
            <a:srgbClr val="D2D2E0"/>
          </a:solidFill>
          <a:ln/>
        </p:spPr>
      </p:sp>
      <p:pic>
        <p:nvPicPr>
          <p:cNvPr id="16" name="Image 0" descr="preencoded.png">    </p:cNvPr>
          <p:cNvPicPr>
            <a:picLocks noChangeAspect="1"/>
          </p:cNvPicPr>
          <p:nvPr/>
        </p:nvPicPr>
        <p:blipFill>
          <a:blip r:embed="rId1"/>
          <a:stretch>
            <a:fillRect/>
          </a:stretch>
        </p:blipFill>
        <p:spPr>
          <a:xfrm>
            <a:off x="969407" y="6359128"/>
            <a:ext cx="269319" cy="215384"/>
          </a:xfrm>
          <a:prstGeom prst="rect">
            <a:avLst/>
          </a:prstGeom>
        </p:spPr>
      </p:pic>
      <p:sp>
        <p:nvSpPr>
          <p:cNvPr id="17" name="Text 14"/>
          <p:cNvSpPr/>
          <p:nvPr/>
        </p:nvSpPr>
        <p:spPr>
          <a:xfrm>
            <a:off x="1454110" y="6303764"/>
            <a:ext cx="12206883" cy="103441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Roboto" pitchFamily="34" charset="0"/>
                <a:ea typeface="Roboto" pitchFamily="34" charset="-122"/>
                <a:cs typeface="Roboto" pitchFamily="34" charset="-120"/>
              </a:rPr>
              <a:t>Our results were promising. We achieved a Dice score of 0.83 for the liver, meaning the model captures the organ shape almost perfectly. For masses, which are notoriously difficult, we achieved 0.62. This proves the model can differentiate diseased tissue from healthy tissue despite the noise.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7134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Visual Validation</a:t>
            </a:r>
            <a:endParaRPr lang="en-US" sz="4450" dirty="0"/>
          </a:p>
        </p:txBody>
      </p:sp>
      <p:sp>
        <p:nvSpPr>
          <p:cNvPr id="3" name="Text 1"/>
          <p:cNvSpPr/>
          <p:nvPr/>
        </p:nvSpPr>
        <p:spPr>
          <a:xfrm>
            <a:off x="793790" y="207085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Observation:</a:t>
            </a:r>
            <a:endParaRPr lang="en-US" sz="2650" dirty="0"/>
          </a:p>
        </p:txBody>
      </p:sp>
      <p:sp>
        <p:nvSpPr>
          <p:cNvPr id="4" name="Shape 2"/>
          <p:cNvSpPr/>
          <p:nvPr/>
        </p:nvSpPr>
        <p:spPr>
          <a:xfrm>
            <a:off x="793790" y="2956798"/>
            <a:ext cx="113348" cy="113348"/>
          </a:xfrm>
          <a:prstGeom prst="roundRect">
            <a:avLst>
              <a:gd name="adj" fmla="val 403360"/>
            </a:avLst>
          </a:prstGeom>
          <a:solidFill>
            <a:srgbClr val="1B1B27"/>
          </a:solidFill>
          <a:ln/>
        </p:spPr>
      </p:sp>
      <p:sp>
        <p:nvSpPr>
          <p:cNvPr id="5" name="Text 3"/>
          <p:cNvSpPr/>
          <p:nvPr/>
        </p:nvSpPr>
        <p:spPr>
          <a:xfrm>
            <a:off x="1133951" y="2836307"/>
            <a:ext cx="6039445" cy="708660"/>
          </a:xfrm>
          <a:prstGeom prst="rect">
            <a:avLst/>
          </a:prstGeom>
          <a:noFill/>
          <a:ln/>
        </p:spPr>
        <p:txBody>
          <a:bodyPr wrap="squar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Row 1: Excellent delineation of the liver boundary</a:t>
            </a:r>
            <a:endParaRPr lang="en-US" sz="2200" dirty="0"/>
          </a:p>
        </p:txBody>
      </p:sp>
      <p:sp>
        <p:nvSpPr>
          <p:cNvPr id="6" name="Shape 4"/>
          <p:cNvSpPr/>
          <p:nvPr/>
        </p:nvSpPr>
        <p:spPr>
          <a:xfrm>
            <a:off x="7456884" y="2956798"/>
            <a:ext cx="113348" cy="113348"/>
          </a:xfrm>
          <a:prstGeom prst="roundRect">
            <a:avLst>
              <a:gd name="adj" fmla="val 403360"/>
            </a:avLst>
          </a:prstGeom>
          <a:solidFill>
            <a:srgbClr val="1B1B27"/>
          </a:solidFill>
          <a:ln/>
        </p:spPr>
      </p:sp>
      <p:sp>
        <p:nvSpPr>
          <p:cNvPr id="7" name="Text 5"/>
          <p:cNvSpPr/>
          <p:nvPr/>
        </p:nvSpPr>
        <p:spPr>
          <a:xfrm>
            <a:off x="7797046" y="2836307"/>
            <a:ext cx="6039564" cy="708660"/>
          </a:xfrm>
          <a:prstGeom prst="rect">
            <a:avLst/>
          </a:prstGeom>
          <a:noFill/>
          <a:ln/>
        </p:spPr>
        <p:txBody>
          <a:bodyPr wrap="squar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Row 2: Successful detection of the internal mass (white region)</a:t>
            </a:r>
            <a:endParaRPr lang="en-US" sz="2200" dirty="0"/>
          </a:p>
        </p:txBody>
      </p:sp>
      <p:sp>
        <p:nvSpPr>
          <p:cNvPr id="8" name="Text 6"/>
          <p:cNvSpPr/>
          <p:nvPr/>
        </p:nvSpPr>
        <p:spPr>
          <a:xfrm>
            <a:off x="793790" y="388512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Analysis:</a:t>
            </a:r>
            <a:endParaRPr lang="en-US" sz="2650" dirty="0"/>
          </a:p>
        </p:txBody>
      </p:sp>
      <p:sp>
        <p:nvSpPr>
          <p:cNvPr id="9" name="Text 7"/>
          <p:cNvSpPr/>
          <p:nvPr/>
        </p:nvSpPr>
        <p:spPr>
          <a:xfrm>
            <a:off x="793790" y="465058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The model successfully learned to ignore the cone-shaped shadowing artifacts typical of ultrasound probes.</a:t>
            </a:r>
            <a:endParaRPr lang="en-US" sz="1750" dirty="0"/>
          </a:p>
        </p:txBody>
      </p:sp>
      <p:sp>
        <p:nvSpPr>
          <p:cNvPr id="10" name="Shape 8"/>
          <p:cNvSpPr/>
          <p:nvPr/>
        </p:nvSpPr>
        <p:spPr>
          <a:xfrm>
            <a:off x="793790" y="5268635"/>
            <a:ext cx="13042821" cy="1689616"/>
          </a:xfrm>
          <a:prstGeom prst="roundRect">
            <a:avLst>
              <a:gd name="adj" fmla="val 5638"/>
            </a:avLst>
          </a:prstGeom>
          <a:solidFill>
            <a:srgbClr val="D2D2E0"/>
          </a:solidFill>
          <a:ln/>
        </p:spPr>
      </p:sp>
      <p:pic>
        <p:nvPicPr>
          <p:cNvPr id="11" name="Image 0" descr="preencoded.png">    </p:cNvPr>
          <p:cNvPicPr>
            <a:picLocks noChangeAspect="1"/>
          </p:cNvPicPr>
          <p:nvPr/>
        </p:nvPicPr>
        <p:blipFill>
          <a:blip r:embed="rId1"/>
          <a:stretch>
            <a:fillRect/>
          </a:stretch>
        </p:blipFill>
        <p:spPr>
          <a:xfrm>
            <a:off x="1020604" y="5612725"/>
            <a:ext cx="283488" cy="226814"/>
          </a:xfrm>
          <a:prstGeom prst="rect">
            <a:avLst/>
          </a:prstGeom>
        </p:spPr>
      </p:pic>
      <p:sp>
        <p:nvSpPr>
          <p:cNvPr id="12" name="Text 9"/>
          <p:cNvSpPr/>
          <p:nvPr/>
        </p:nvSpPr>
        <p:spPr>
          <a:xfrm>
            <a:off x="1530906" y="5552123"/>
            <a:ext cx="1207889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Here you can see the model in action. In the predicted mask column, notice how clean the boundaries are. The model successfully ignores the dark shadows at the corners of the ultrasound cone and identifies the bright white tumor mass inside the liver.</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25793"/>
            <a:ext cx="6810018"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Conclusion &amp; Future Work</a:t>
            </a:r>
            <a:endParaRPr lang="en-US" sz="4450" dirty="0"/>
          </a:p>
        </p:txBody>
      </p:sp>
      <p:sp>
        <p:nvSpPr>
          <p:cNvPr id="3" name="Text 1"/>
          <p:cNvSpPr/>
          <p:nvPr/>
        </p:nvSpPr>
        <p:spPr>
          <a:xfrm>
            <a:off x="793790" y="1425297"/>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Summary:</a:t>
            </a:r>
            <a:endParaRPr lang="en-US" sz="2650" dirty="0"/>
          </a:p>
        </p:txBody>
      </p:sp>
      <p:sp>
        <p:nvSpPr>
          <p:cNvPr id="4" name="Shape 2"/>
          <p:cNvSpPr/>
          <p:nvPr/>
        </p:nvSpPr>
        <p:spPr>
          <a:xfrm>
            <a:off x="793790" y="2190750"/>
            <a:ext cx="4196358" cy="1557576"/>
          </a:xfrm>
          <a:prstGeom prst="roundRect">
            <a:avLst>
              <a:gd name="adj" fmla="val 34951"/>
            </a:avLst>
          </a:prstGeom>
          <a:solidFill>
            <a:srgbClr val="E1E1EA"/>
          </a:solidFill>
          <a:ln w="7620">
            <a:solidFill>
              <a:srgbClr val="C7C7D0"/>
            </a:solidFill>
            <a:prstDash val="solid"/>
          </a:ln>
        </p:spPr>
      </p:sp>
      <p:sp>
        <p:nvSpPr>
          <p:cNvPr id="5" name="Text 3"/>
          <p:cNvSpPr/>
          <p:nvPr/>
        </p:nvSpPr>
        <p:spPr>
          <a:xfrm>
            <a:off x="1028224" y="2425184"/>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Successfully automated the parsing of JSON annotations to training masks.</a:t>
            </a:r>
            <a:endParaRPr lang="en-US" sz="1750" dirty="0"/>
          </a:p>
        </p:txBody>
      </p:sp>
      <p:sp>
        <p:nvSpPr>
          <p:cNvPr id="6" name="Shape 4"/>
          <p:cNvSpPr/>
          <p:nvPr/>
        </p:nvSpPr>
        <p:spPr>
          <a:xfrm>
            <a:off x="5216962" y="2190750"/>
            <a:ext cx="4196358" cy="1557576"/>
          </a:xfrm>
          <a:prstGeom prst="roundRect">
            <a:avLst>
              <a:gd name="adj" fmla="val 34951"/>
            </a:avLst>
          </a:prstGeom>
          <a:solidFill>
            <a:srgbClr val="E1E1EA"/>
          </a:solidFill>
          <a:ln w="7620">
            <a:solidFill>
              <a:srgbClr val="C7C7D0"/>
            </a:solidFill>
            <a:prstDash val="solid"/>
          </a:ln>
        </p:spPr>
      </p:sp>
      <p:sp>
        <p:nvSpPr>
          <p:cNvPr id="7" name="Text 5"/>
          <p:cNvSpPr/>
          <p:nvPr/>
        </p:nvSpPr>
        <p:spPr>
          <a:xfrm>
            <a:off x="5451396" y="2425184"/>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Attention mechanism effectively handled ultrasound speckle noise.</a:t>
            </a:r>
            <a:endParaRPr lang="en-US" sz="1750" dirty="0"/>
          </a:p>
        </p:txBody>
      </p:sp>
      <p:sp>
        <p:nvSpPr>
          <p:cNvPr id="8" name="Shape 6"/>
          <p:cNvSpPr/>
          <p:nvPr/>
        </p:nvSpPr>
        <p:spPr>
          <a:xfrm>
            <a:off x="9640133" y="2190750"/>
            <a:ext cx="4196358" cy="1557576"/>
          </a:xfrm>
          <a:prstGeom prst="roundRect">
            <a:avLst>
              <a:gd name="adj" fmla="val 34951"/>
            </a:avLst>
          </a:prstGeom>
          <a:solidFill>
            <a:srgbClr val="E1E1EA"/>
          </a:solidFill>
          <a:ln w="7620">
            <a:solidFill>
              <a:srgbClr val="C7C7D0"/>
            </a:solidFill>
            <a:prstDash val="solid"/>
          </a:ln>
        </p:spPr>
      </p:sp>
      <p:sp>
        <p:nvSpPr>
          <p:cNvPr id="9" name="Text 7"/>
          <p:cNvSpPr/>
          <p:nvPr/>
        </p:nvSpPr>
        <p:spPr>
          <a:xfrm>
            <a:off x="9874568" y="2425184"/>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Compound loss stabilized training for the small "Mass" class.</a:t>
            </a:r>
            <a:endParaRPr lang="en-US" sz="1750" dirty="0"/>
          </a:p>
        </p:txBody>
      </p:sp>
      <p:sp>
        <p:nvSpPr>
          <p:cNvPr id="10" name="Text 8"/>
          <p:cNvSpPr/>
          <p:nvPr/>
        </p:nvSpPr>
        <p:spPr>
          <a:xfrm>
            <a:off x="793790" y="4088487"/>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B1B27"/>
                </a:solidFill>
                <a:latin typeface="Raleway" pitchFamily="34" charset="0"/>
                <a:ea typeface="Raleway" pitchFamily="34" charset="-122"/>
                <a:cs typeface="Raleway" pitchFamily="34" charset="-120"/>
              </a:rPr>
              <a:t>Future Scope:</a:t>
            </a:r>
            <a:endParaRPr lang="en-US" sz="2650" dirty="0"/>
          </a:p>
        </p:txBody>
      </p:sp>
      <p:sp>
        <p:nvSpPr>
          <p:cNvPr id="11" name="Text 9"/>
          <p:cNvSpPr/>
          <p:nvPr/>
        </p:nvSpPr>
        <p:spPr>
          <a:xfrm>
            <a:off x="793790" y="4853940"/>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Testing on 3D Volumetric Ultrasound</a:t>
            </a:r>
            <a:endParaRPr lang="en-US" sz="1750" dirty="0"/>
          </a:p>
        </p:txBody>
      </p:sp>
      <p:sp>
        <p:nvSpPr>
          <p:cNvPr id="12" name="Text 10"/>
          <p:cNvSpPr/>
          <p:nvPr/>
        </p:nvSpPr>
        <p:spPr>
          <a:xfrm>
            <a:off x="793790" y="529613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Integrating the model into a real-time clinical dashboard for live assistance</a:t>
            </a:r>
            <a:endParaRPr lang="en-US" sz="1750" dirty="0"/>
          </a:p>
        </p:txBody>
      </p:sp>
      <p:sp>
        <p:nvSpPr>
          <p:cNvPr id="13" name="Shape 11"/>
          <p:cNvSpPr/>
          <p:nvPr/>
        </p:nvSpPr>
        <p:spPr>
          <a:xfrm>
            <a:off x="793790" y="5914192"/>
            <a:ext cx="13042821" cy="1689616"/>
          </a:xfrm>
          <a:prstGeom prst="roundRect">
            <a:avLst>
              <a:gd name="adj" fmla="val 5638"/>
            </a:avLst>
          </a:prstGeom>
          <a:solidFill>
            <a:srgbClr val="D2D2E0"/>
          </a:solidFill>
          <a:ln/>
        </p:spPr>
      </p:sp>
      <p:pic>
        <p:nvPicPr>
          <p:cNvPr id="14" name="Image 0" descr="preencoded.png">    </p:cNvPr>
          <p:cNvPicPr>
            <a:picLocks noChangeAspect="1"/>
          </p:cNvPicPr>
          <p:nvPr/>
        </p:nvPicPr>
        <p:blipFill>
          <a:blip r:embed="rId1"/>
          <a:stretch>
            <a:fillRect/>
          </a:stretch>
        </p:blipFill>
        <p:spPr>
          <a:xfrm>
            <a:off x="1020604" y="6258282"/>
            <a:ext cx="283488" cy="226814"/>
          </a:xfrm>
          <a:prstGeom prst="rect">
            <a:avLst/>
          </a:prstGeom>
        </p:spPr>
      </p:pic>
      <p:sp>
        <p:nvSpPr>
          <p:cNvPr id="15" name="Text 12"/>
          <p:cNvSpPr/>
          <p:nvPr/>
        </p:nvSpPr>
        <p:spPr>
          <a:xfrm>
            <a:off x="1530906" y="6197679"/>
            <a:ext cx="1207889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To conclude, we successfully built an end-to-end pipeline from raw JSON data to a functioning diagnostic model. The move to Attention U-Net was the turning point for handling noise. Future work will focus on deploying this into real-time systems for clinical use.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21527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Raleway" pitchFamily="34" charset="0"/>
                <a:ea typeface="Raleway" pitchFamily="34" charset="-122"/>
                <a:cs typeface="Raleway" pitchFamily="34" charset="-120"/>
              </a:rPr>
              <a:t>Q&amp;A</a:t>
            </a:r>
            <a:endParaRPr lang="en-US" sz="4450" dirty="0"/>
          </a:p>
        </p:txBody>
      </p:sp>
      <p:sp>
        <p:nvSpPr>
          <p:cNvPr id="4" name="Text 1"/>
          <p:cNvSpPr/>
          <p:nvPr/>
        </p:nvSpPr>
        <p:spPr>
          <a:xfrm>
            <a:off x="793790" y="3264218"/>
            <a:ext cx="7556421" cy="1956435"/>
          </a:xfrm>
          <a:prstGeom prst="rect">
            <a:avLst/>
          </a:prstGeom>
          <a:noFill/>
          <a:ln/>
        </p:spPr>
        <p:txBody>
          <a:bodyPr wrap="square" lIns="0" tIns="0" rIns="0" bIns="0" rtlCol="0" anchor="t"/>
          <a:lstStyle/>
          <a:p>
            <a:pPr algn="l" indent="0" marL="0">
              <a:lnSpc>
                <a:spcPts val="7700"/>
              </a:lnSpc>
              <a:buNone/>
            </a:pPr>
            <a:r>
              <a:rPr lang="en-US" sz="6150" dirty="0">
                <a:solidFill>
                  <a:srgbClr val="1B1B27"/>
                </a:solidFill>
                <a:latin typeface="Raleway" pitchFamily="34" charset="0"/>
                <a:ea typeface="Raleway" pitchFamily="34" charset="-122"/>
                <a:cs typeface="Raleway" pitchFamily="34" charset="-120"/>
              </a:rPr>
              <a:t>Thank you for listening.</a:t>
            </a:r>
            <a:endParaRPr lang="en-US" sz="6150" dirty="0"/>
          </a:p>
        </p:txBody>
      </p:sp>
      <p:sp>
        <p:nvSpPr>
          <p:cNvPr id="5" name="Text 2"/>
          <p:cNvSpPr/>
          <p:nvPr/>
        </p:nvSpPr>
        <p:spPr>
          <a:xfrm>
            <a:off x="793790" y="5560814"/>
            <a:ext cx="7556421" cy="453509"/>
          </a:xfrm>
          <a:prstGeom prst="rect">
            <a:avLst/>
          </a:prstGeom>
          <a:noFill/>
          <a:ln/>
        </p:spPr>
        <p:txBody>
          <a:bodyPr wrap="none" lIns="0" tIns="0" rIns="0" bIns="0" rtlCol="0" anchor="t"/>
          <a:lstStyle/>
          <a:p>
            <a:pPr algn="l" indent="0" marL="0">
              <a:lnSpc>
                <a:spcPts val="3550"/>
              </a:lnSpc>
              <a:buNone/>
            </a:pPr>
            <a:r>
              <a:rPr lang="en-US" sz="2200" dirty="0">
                <a:solidFill>
                  <a:srgbClr val="3C3939"/>
                </a:solidFill>
                <a:latin typeface="Roboto" pitchFamily="34" charset="0"/>
                <a:ea typeface="Roboto" pitchFamily="34" charset="-122"/>
                <a:cs typeface="Roboto" pitchFamily="34" charset="-120"/>
              </a:rPr>
              <a:t>Open for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2025-11-20T21:00:43Z</dcterms:created>
  <dcterms:modified xsi:type="dcterms:W3CDTF">2025-11-20T21:00:43Z</dcterms:modified>
</cp:coreProperties>
</file>